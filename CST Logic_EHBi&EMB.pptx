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7" r:id="rId5"/>
    <p:sldId id="262" r:id="rId6"/>
  </p:sldIdLst>
  <p:sldSz cx="9144000" cy="5143500" type="screen16x9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orient="horz" pos="612" userDrawn="1">
          <p15:clr>
            <a:srgbClr val="A4A3A4"/>
          </p15:clr>
        </p15:guide>
        <p15:guide id="3" orient="horz" pos="1854" userDrawn="1">
          <p15:clr>
            <a:srgbClr val="A4A3A4"/>
          </p15:clr>
        </p15:guide>
        <p15:guide id="4" orient="horz" pos="2994" userDrawn="1">
          <p15:clr>
            <a:srgbClr val="A4A3A4"/>
          </p15:clr>
        </p15:guide>
        <p15:guide id="5" pos="2934" userDrawn="1">
          <p15:clr>
            <a:srgbClr val="A4A3A4"/>
          </p15:clr>
        </p15:guide>
        <p15:guide id="6" pos="2826" userDrawn="1">
          <p15:clr>
            <a:srgbClr val="A4A3A4"/>
          </p15:clr>
        </p15:guide>
        <p15:guide id="7" pos="5538" userDrawn="1">
          <p15:clr>
            <a:srgbClr val="A4A3A4"/>
          </p15:clr>
        </p15:guide>
        <p15:guide id="8" pos="2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8A8"/>
    <a:srgbClr val="C2ECFB"/>
    <a:srgbClr val="ACBBC5"/>
    <a:srgbClr val="F7FA78"/>
    <a:srgbClr val="00ABE7"/>
    <a:srgbClr val="2EBEEF"/>
    <a:srgbClr val="93D5F6"/>
    <a:srgbClr val="CEEBFC"/>
    <a:srgbClr val="0057B7"/>
    <a:srgbClr val="000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04" autoAdjust="0"/>
  </p:normalViewPr>
  <p:slideViewPr>
    <p:cSldViewPr snapToGrid="0" snapToObjects="1">
      <p:cViewPr varScale="1">
        <p:scale>
          <a:sx n="146" d="100"/>
          <a:sy n="146" d="100"/>
        </p:scale>
        <p:origin x="402" y="108"/>
      </p:cViewPr>
      <p:guideLst>
        <p:guide orient="horz" pos="1752"/>
        <p:guide orient="horz" pos="612"/>
        <p:guide orient="horz" pos="1854"/>
        <p:guide orient="horz" pos="2994"/>
        <p:guide pos="2934"/>
        <p:guide pos="2826"/>
        <p:guide pos="5538"/>
        <p:guide pos="2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834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Zhen SGH CDAY223" userId="58c6818a-3577-4ae3-8238-bcb4cc81b368" providerId="ADAL" clId="{BEBCD458-1472-443B-8616-221ED4FCAD17}"/>
    <pc:docChg chg="delSld">
      <pc:chgData name="Yang Zhen SGH CDAY223" userId="58c6818a-3577-4ae3-8238-bcb4cc81b368" providerId="ADAL" clId="{BEBCD458-1472-443B-8616-221ED4FCAD17}" dt="2026-07-24T01:31:18.384" v="0" actId="2696"/>
      <pc:docMkLst>
        <pc:docMk/>
      </pc:docMkLst>
      <pc:sldChg chg="del">
        <pc:chgData name="Yang Zhen SGH CDAY223" userId="58c6818a-3577-4ae3-8238-bcb4cc81b368" providerId="ADAL" clId="{BEBCD458-1472-443B-8616-221ED4FCAD17}" dt="2026-07-24T01:31:18.384" v="0" actId="2696"/>
        <pc:sldMkLst>
          <pc:docMk/>
          <pc:sldMk cId="1879001685" sldId="258"/>
        </pc:sldMkLst>
      </pc:sldChg>
      <pc:sldChg chg="del">
        <pc:chgData name="Yang Zhen SGH CDAY223" userId="58c6818a-3577-4ae3-8238-bcb4cc81b368" providerId="ADAL" clId="{BEBCD458-1472-443B-8616-221ED4FCAD17}" dt="2026-07-24T01:31:18.384" v="0" actId="2696"/>
        <pc:sldMkLst>
          <pc:docMk/>
          <pc:sldMk cId="2286805938" sldId="259"/>
        </pc:sldMkLst>
      </pc:sldChg>
      <pc:sldChg chg="del">
        <pc:chgData name="Yang Zhen SGH CDAY223" userId="58c6818a-3577-4ae3-8238-bcb4cc81b368" providerId="ADAL" clId="{BEBCD458-1472-443B-8616-221ED4FCAD17}" dt="2026-07-24T01:31:18.384" v="0" actId="2696"/>
        <pc:sldMkLst>
          <pc:docMk/>
          <pc:sldMk cId="1248162188" sldId="260"/>
        </pc:sldMkLst>
      </pc:sldChg>
      <pc:sldChg chg="del">
        <pc:chgData name="Yang Zhen SGH CDAY223" userId="58c6818a-3577-4ae3-8238-bcb4cc81b368" providerId="ADAL" clId="{BEBCD458-1472-443B-8616-221ED4FCAD17}" dt="2026-07-24T01:31:18.384" v="0" actId="2696"/>
        <pc:sldMkLst>
          <pc:docMk/>
          <pc:sldMk cId="3466089900" sldId="2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7581487-DED7-4908-9A01-0A45EDCB1D6C}" type="datetimeFigureOut">
              <a:rPr lang="de-DE" sz="1100"/>
              <a:t>24.07.2026</a:t>
            </a:fld>
            <a:endParaRPr lang="de-DE" sz="11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F42A22D-1E89-46D3-A8B1-76349A9A3E3A}" type="slidenum">
              <a:rPr lang="de-DE" sz="1100"/>
              <a:t>‹#›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52766228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5888" y="403225"/>
            <a:ext cx="6850062" cy="38544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lIns="99048" tIns="49524" rIns="99048" bIns="49524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72667" y="4432312"/>
            <a:ext cx="6335333" cy="543965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947545"/>
            <a:ext cx="3076363" cy="28205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100"/>
            </a:lvl1pPr>
          </a:lstStyle>
          <a:p>
            <a:fld id="{D61B4C21-2AF8-4513-9A88-12DEBB551087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262257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32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48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4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</p:sp>
      <p:sp>
        <p:nvSpPr>
          <p:cNvPr id="5" name="Notizenplatzhalt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651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0B27B7-17E5-4A05-7F83-00E7B178F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B27D11-1CD9-19FD-3A35-75868FE6D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8" y="2190181"/>
            <a:ext cx="8424000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3713CE-4716-A550-4F54-7739A55A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24.07.2026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B38394-6756-0F9B-4B68-F8E62E08EB3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395" t="24411" r="24395" b="24411"/>
          <a:stretch/>
        </p:blipFill>
        <p:spPr>
          <a:xfrm>
            <a:off x="7828763" y="3828585"/>
            <a:ext cx="864000" cy="8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dar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109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73F4857-E0CA-3F2B-147D-10B520AAFE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808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b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CF8F7F5-1D26-B002-9948-6C3932287B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921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C46C04E-B4AE-3757-B779-346B521441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8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4AF9126-6937-A989-7F32-992CCFD90D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7C70C-6D75-BA5B-7801-55484AF84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7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B7887E8-7A83-7E04-5B3E-859482CED4E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0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043B0EE3-F67E-B2CB-E7F0-9B5841AFA6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643AFB-05B7-7AEC-BD7F-D8F9A67AF97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823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FF4FF9-089E-B64F-31F5-B3291648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B1E25E-CC58-36FC-D066-614E813AA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5" y="972000"/>
            <a:ext cx="4122737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189EB9-5D0A-643A-9E37-67B6A10F4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F90B3-341F-6366-0B38-F7E0F7B8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24.07.2026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29ABA9-53BD-FEB3-7879-870B77FB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E99631-F2A8-59D7-D1F8-6147F1E0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6847-08BA-46A7-9F57-5D815BE626A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434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962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4660362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4660362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1755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360001" y="2951775"/>
            <a:ext cx="2700000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Inhaltsplatzhalter 5"/>
          <p:cNvSpPr>
            <a:spLocks noGrp="1"/>
          </p:cNvSpPr>
          <p:nvPr>
            <p:ph sz="quarter" idx="16"/>
          </p:nvPr>
        </p:nvSpPr>
        <p:spPr>
          <a:xfrm>
            <a:off x="3222002" y="2951775"/>
            <a:ext cx="2700000" cy="1800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6"/>
          <p:cNvSpPr>
            <a:spLocks noGrp="1"/>
          </p:cNvSpPr>
          <p:nvPr>
            <p:ph sz="quarter" idx="17"/>
          </p:nvPr>
        </p:nvSpPr>
        <p:spPr>
          <a:xfrm>
            <a:off x="6084002" y="2951775"/>
            <a:ext cx="2700000" cy="1800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60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661096" y="0"/>
            <a:ext cx="4482904" cy="51435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862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3234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1"/>
          <p:cNvSpPr>
            <a:spLocks noGrp="1"/>
          </p:cNvSpPr>
          <p:nvPr>
            <p:ph type="pic" sz="quarter" idx="12"/>
          </p:nvPr>
        </p:nvSpPr>
        <p:spPr>
          <a:xfrm>
            <a:off x="4661096" y="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661096" y="257400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303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1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22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6084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60001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6"/>
          </p:nvPr>
        </p:nvSpPr>
        <p:spPr>
          <a:xfrm>
            <a:off x="3222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084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Inhaltsplatzhalter 1"/>
          <p:cNvSpPr>
            <a:spLocks noGrp="1"/>
          </p:cNvSpPr>
          <p:nvPr>
            <p:ph sz="quarter" idx="18"/>
          </p:nvPr>
        </p:nvSpPr>
        <p:spPr>
          <a:xfrm>
            <a:off x="360001" y="3491998"/>
            <a:ext cx="2700000" cy="12600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sz="quarter" idx="19"/>
          </p:nvPr>
        </p:nvSpPr>
        <p:spPr>
          <a:xfrm>
            <a:off x="3222002" y="3491998"/>
            <a:ext cx="2700000" cy="12600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sz="quarter" idx="20"/>
          </p:nvPr>
        </p:nvSpPr>
        <p:spPr>
          <a:xfrm>
            <a:off x="6084002" y="3491998"/>
            <a:ext cx="2700000" cy="12600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2852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360002" y="972000"/>
            <a:ext cx="8424000" cy="3780000"/>
          </a:xfr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4532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8430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2781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972000"/>
            <a:ext cx="4122737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00132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4" y="295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1875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8856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4657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4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02741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1166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8E6E9FE-CE6E-4809-89BC-5C2FBA8FD1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004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84450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2674746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E45A8B0F-33B4-90CA-586B-BA540BF56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6660" y="972000"/>
            <a:ext cx="5517341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59346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4032000"/>
            <a:ext cx="8424000" cy="720000"/>
          </a:xfr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972000"/>
            <a:ext cx="8424000" cy="2879111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357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gaz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3060000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248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306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91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gazin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186F5D01-180D-E760-A47A-88A7ECBE19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3060000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3060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29391" y="4871601"/>
            <a:ext cx="2484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E553B8C-1A4B-36BA-3482-8CAB42A7FF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420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FD43FEB3-666E-7E1F-5B2C-65CFA8FF88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Name, 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C2AD7D0A-49BD-8878-4C0C-B38FBB72CB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„Insert a </a:t>
            </a:r>
            <a:r>
              <a:rPr lang="de-DE" dirty="0" err="1"/>
              <a:t>quote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nice </a:t>
            </a:r>
            <a:r>
              <a:rPr lang="de-DE" dirty="0" err="1"/>
              <a:t>place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!“</a:t>
            </a:r>
          </a:p>
        </p:txBody>
      </p:sp>
    </p:spTree>
    <p:extLst>
      <p:ext uri="{BB962C8B-B14F-4D97-AF65-F5344CB8AC3E}">
        <p14:creationId xmlns:p14="http://schemas.microsoft.com/office/powerpoint/2010/main" val="848220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Lorem ipsum is a nice place to go!”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96586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right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9341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dark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0558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Highlight Slide: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8424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30CF375-D2D8-7049-8838-653CE776D9A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6E553B8C-1A4B-36BA-3482-8CAB42A7FF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4" name="Text Box 10">
              <a:extLst>
                <a:ext uri="{FF2B5EF4-FFF2-40B4-BE49-F238E27FC236}">
                  <a16:creationId xmlns:a16="http://schemas.microsoft.com/office/drawing/2014/main" id="{73FAFDC2-E0C2-6848-E936-8DC21CE5E3FE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2626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Highlight Slide: 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248D9E-1B90-BC6D-A0B7-902F5377D95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A166C5BF-00FA-DD53-8868-536F948D0F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ACB40CC4-1CC3-7CD8-CAA5-9BAAF4D6756A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3610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Highlight Slide: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29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60002" y="972000"/>
            <a:ext cx="8424000" cy="37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29391" y="4871601"/>
            <a:ext cx="52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04001" y="4871601"/>
            <a:ext cx="18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5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black">
          <a:xfrm>
            <a:off x="7607032" y="4871601"/>
            <a:ext cx="90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 algn="r"/>
            <a:r>
              <a:rPr lang="de-DE" dirty="0"/>
              <a:t>© ZF Friedrichshafen AG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15D946-1597-B199-E6D8-8C91CD72428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2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1" r:id="rId2"/>
    <p:sldLayoutId id="2147483719" r:id="rId3"/>
    <p:sldLayoutId id="2147483714" r:id="rId4"/>
    <p:sldLayoutId id="2147483720" r:id="rId5"/>
    <p:sldLayoutId id="2147483721" r:id="rId6"/>
    <p:sldLayoutId id="2147483715" r:id="rId7"/>
    <p:sldLayoutId id="2147483650" r:id="rId8"/>
    <p:sldLayoutId id="2147483722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54" r:id="rId17"/>
    <p:sldLayoutId id="2147483655" r:id="rId18"/>
    <p:sldLayoutId id="2147483693" r:id="rId19"/>
    <p:sldLayoutId id="2147483694" r:id="rId20"/>
    <p:sldLayoutId id="2147483695" r:id="rId21"/>
    <p:sldLayoutId id="2147483696" r:id="rId22"/>
    <p:sldLayoutId id="2147483698" r:id="rId23"/>
    <p:sldLayoutId id="2147483699" r:id="rId24"/>
    <p:sldLayoutId id="2147483718" r:id="rId25"/>
    <p:sldLayoutId id="2147483700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688" r:id="rId33"/>
    <p:sldLayoutId id="2147483689" r:id="rId34"/>
    <p:sldLayoutId id="2147483690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None/>
        <a:defRPr sz="1200" b="1" kern="1200">
          <a:solidFill>
            <a:schemeClr val="tx1"/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box">
            <a:extLst>
              <a:ext uri="{FF2B5EF4-FFF2-40B4-BE49-F238E27FC236}">
                <a16:creationId xmlns:a16="http://schemas.microsoft.com/office/drawing/2014/main" id="{F2CB7562-1E54-A132-3D13-6CFC80845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CST </a:t>
            </a:r>
            <a:r>
              <a:rPr lang="de-DE" dirty="0" err="1"/>
              <a:t>Logic</a:t>
            </a:r>
            <a:endParaRPr lang="de-DE" dirty="0"/>
          </a:p>
        </p:txBody>
      </p:sp>
      <p:sp>
        <p:nvSpPr>
          <p:cNvPr id="27" name="Untertitelbox">
            <a:extLst>
              <a:ext uri="{FF2B5EF4-FFF2-40B4-BE49-F238E27FC236}">
                <a16:creationId xmlns:a16="http://schemas.microsoft.com/office/drawing/2014/main" id="{AEDF3FE7-074E-4609-CA4F-A0CF2E5DAE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0626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0BE01-313A-4709-1C0E-B4F352BC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4F0DEF16-81FA-A6D8-EBCC-B4A4D25E0779}"/>
              </a:ext>
            </a:extLst>
          </p:cNvPr>
          <p:cNvSpPr/>
          <p:nvPr/>
        </p:nvSpPr>
        <p:spPr>
          <a:xfrm>
            <a:off x="2869874" y="1006194"/>
            <a:ext cx="2785749" cy="1498100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880D6D2-09B5-5C62-A8E9-041CEB90C5C3}"/>
              </a:ext>
            </a:extLst>
          </p:cNvPr>
          <p:cNvSpPr/>
          <p:nvPr/>
        </p:nvSpPr>
        <p:spPr>
          <a:xfrm>
            <a:off x="568411" y="1010313"/>
            <a:ext cx="2272648" cy="1491923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0D6076A3-C030-7B57-4D7D-E4EEBD1EDAFB}"/>
              </a:ext>
            </a:extLst>
          </p:cNvPr>
          <p:cNvSpPr/>
          <p:nvPr/>
        </p:nvSpPr>
        <p:spPr>
          <a:xfrm>
            <a:off x="6048103" y="993934"/>
            <a:ext cx="248194" cy="1514136"/>
          </a:xfrm>
          <a:custGeom>
            <a:avLst/>
            <a:gdLst>
              <a:gd name="csX0" fmla="*/ 0 w 248194"/>
              <a:gd name="csY0" fmla="*/ 1449977 h 1456509"/>
              <a:gd name="csX1" fmla="*/ 248194 w 248194"/>
              <a:gd name="csY1" fmla="*/ 1456509 h 1456509"/>
              <a:gd name="csX2" fmla="*/ 248194 w 248194"/>
              <a:gd name="csY2" fmla="*/ 0 h 1456509"/>
              <a:gd name="csX3" fmla="*/ 0 w 248194"/>
              <a:gd name="csY3" fmla="*/ 1449977 h 1456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8194" h="1456509">
                <a:moveTo>
                  <a:pt x="0" y="1449977"/>
                </a:moveTo>
                <a:lnTo>
                  <a:pt x="248194" y="1456509"/>
                </a:lnTo>
                <a:lnTo>
                  <a:pt x="248194" y="0"/>
                </a:lnTo>
                <a:lnTo>
                  <a:pt x="0" y="1449977"/>
                </a:lnTo>
                <a:close/>
              </a:path>
            </a:pathLst>
          </a:custGeom>
          <a:solidFill>
            <a:srgbClr val="FFA8A8">
              <a:alpha val="3607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7AA19-C30B-27EE-93F5-62B520FC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CST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F4B3A91-BBC0-A52E-BA8C-DFACACE1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6DB6EC-ACF2-8991-1588-EA13031DD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2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B8B5E70-6EC2-38F6-7E27-0C103A088C23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760838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B2524D5-614D-CD76-9DC2-228192DC731C}"/>
              </a:ext>
            </a:extLst>
          </p:cNvPr>
          <p:cNvCxnSpPr>
            <a:cxnSpLocks/>
          </p:cNvCxnSpPr>
          <p:nvPr/>
        </p:nvCxnSpPr>
        <p:spPr>
          <a:xfrm flipH="1">
            <a:off x="568411" y="2508417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929CDE56-509D-1CAE-272E-C4F11112D023}"/>
              </a:ext>
            </a:extLst>
          </p:cNvPr>
          <p:cNvSpPr txBox="1"/>
          <p:nvPr/>
        </p:nvSpPr>
        <p:spPr>
          <a:xfrm rot="16200000">
            <a:off x="208235" y="1752342"/>
            <a:ext cx="3077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</a:rPr>
              <a:t>扭矩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760503F-8113-A254-8F70-B4E062A445AC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B6329B8-F529-A4A7-03AA-2239813586A9}"/>
              </a:ext>
            </a:extLst>
          </p:cNvPr>
          <p:cNvCxnSpPr>
            <a:cxnSpLocks/>
          </p:cNvCxnSpPr>
          <p:nvPr/>
        </p:nvCxnSpPr>
        <p:spPr>
          <a:xfrm flipH="1">
            <a:off x="2842053" y="75376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D062756-E85D-0EDA-DD5C-2A063FFBE1B7}"/>
              </a:ext>
            </a:extLst>
          </p:cNvPr>
          <p:cNvCxnSpPr>
            <a:cxnSpLocks/>
          </p:cNvCxnSpPr>
          <p:nvPr/>
        </p:nvCxnSpPr>
        <p:spPr>
          <a:xfrm>
            <a:off x="5823119" y="675354"/>
            <a:ext cx="4" cy="3939895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44F0597-A83D-6B32-88F6-E7308FB84349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F5BD8C63-A544-9EAE-F014-9CC4FBFA6148}"/>
              </a:ext>
            </a:extLst>
          </p:cNvPr>
          <p:cNvSpPr txBox="1"/>
          <p:nvPr/>
        </p:nvSpPr>
        <p:spPr>
          <a:xfrm rot="16200000">
            <a:off x="-101994" y="415514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B050"/>
                </a:solidFill>
              </a:rPr>
              <a:t>电机请求模式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0B19FDB-D363-27AC-6F36-27D7F81C4F04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B0BDDF5-2D2F-38E0-9689-2A8ED648119F}"/>
              </a:ext>
            </a:extLst>
          </p:cNvPr>
          <p:cNvCxnSpPr/>
          <p:nvPr/>
        </p:nvCxnSpPr>
        <p:spPr>
          <a:xfrm>
            <a:off x="568411" y="1686697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AFA49F4A-2C00-F944-3EFD-B9BB5C6067CB}"/>
              </a:ext>
            </a:extLst>
          </p:cNvPr>
          <p:cNvCxnSpPr>
            <a:cxnSpLocks/>
          </p:cNvCxnSpPr>
          <p:nvPr/>
        </p:nvCxnSpPr>
        <p:spPr>
          <a:xfrm>
            <a:off x="2850050" y="1686697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4C929E7-9165-2810-049B-7B80248BBE11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6051065" y="993934"/>
            <a:ext cx="245232" cy="1514964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DAD4565-C8E0-BCD5-A7FE-0993B3BB4043}"/>
              </a:ext>
            </a:extLst>
          </p:cNvPr>
          <p:cNvCxnSpPr>
            <a:cxnSpLocks/>
          </p:cNvCxnSpPr>
          <p:nvPr/>
        </p:nvCxnSpPr>
        <p:spPr>
          <a:xfrm>
            <a:off x="3064476" y="2508898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3C18B90B-99A4-9B8D-CDEA-51E45EE5E2AF}"/>
              </a:ext>
            </a:extLst>
          </p:cNvPr>
          <p:cNvSpPr txBox="1"/>
          <p:nvPr/>
        </p:nvSpPr>
        <p:spPr>
          <a:xfrm>
            <a:off x="784043" y="1259899"/>
            <a:ext cx="1339068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E52330"/>
                </a:solidFill>
              </a:rPr>
              <a:t>机械制动扭矩请求</a:t>
            </a:r>
            <a:endParaRPr lang="en-US" altLang="zh-CN" sz="700" kern="0" dirty="0">
              <a:solidFill>
                <a:srgbClr val="E5233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DrRqdFrntShftBrkTorq</a:t>
            </a:r>
            <a:r>
              <a:rPr lang="en-US" altLang="zh-CN" sz="700" kern="0" dirty="0">
                <a:solidFill>
                  <a:srgbClr val="000000"/>
                </a:solidFill>
              </a:rPr>
              <a:t> +</a:t>
            </a: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DrRqdRearShftBrkTorq</a:t>
            </a:r>
            <a:endParaRPr lang="en-US" altLang="zh-CN" sz="700" kern="0" dirty="0">
              <a:solidFill>
                <a:srgbClr val="000000"/>
              </a:solidFill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F8EFA7A-3C80-147E-DBD6-80436E795002}"/>
              </a:ext>
            </a:extLst>
          </p:cNvPr>
          <p:cNvCxnSpPr>
            <a:cxnSpLocks/>
          </p:cNvCxnSpPr>
          <p:nvPr/>
        </p:nvCxnSpPr>
        <p:spPr>
          <a:xfrm>
            <a:off x="566352" y="2631989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BF1EC34-AB5B-C547-6DFC-64D37A660282}"/>
              </a:ext>
            </a:extLst>
          </p:cNvPr>
          <p:cNvCxnSpPr>
            <a:cxnSpLocks/>
          </p:cNvCxnSpPr>
          <p:nvPr/>
        </p:nvCxnSpPr>
        <p:spPr>
          <a:xfrm flipH="1">
            <a:off x="568411" y="3719380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746D5CF5-B585-2EF3-298B-3A6EE870ACA5}"/>
              </a:ext>
            </a:extLst>
          </p:cNvPr>
          <p:cNvSpPr txBox="1"/>
          <p:nvPr/>
        </p:nvSpPr>
        <p:spPr>
          <a:xfrm rot="16200000">
            <a:off x="-371689" y="2917823"/>
            <a:ext cx="14057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/>
              <a:t>VMC</a:t>
            </a:r>
            <a:r>
              <a:rPr lang="zh-CN" altLang="en-US" sz="1200" kern="0" dirty="0"/>
              <a:t> 制动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扭矩请求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1DAD12F5-9C40-EA31-7311-DE227C5C22F9}"/>
              </a:ext>
            </a:extLst>
          </p:cNvPr>
          <p:cNvCxnSpPr/>
          <p:nvPr/>
        </p:nvCxnSpPr>
        <p:spPr>
          <a:xfrm>
            <a:off x="568411" y="1952368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8933D443-0734-3D78-9490-ADF23B451445}"/>
              </a:ext>
            </a:extLst>
          </p:cNvPr>
          <p:cNvCxnSpPr/>
          <p:nvPr/>
        </p:nvCxnSpPr>
        <p:spPr>
          <a:xfrm>
            <a:off x="566352" y="2209801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63728767-3410-28F7-CB36-831D9DEC87CE}"/>
              </a:ext>
            </a:extLst>
          </p:cNvPr>
          <p:cNvSpPr txBox="1"/>
          <p:nvPr/>
        </p:nvSpPr>
        <p:spPr>
          <a:xfrm>
            <a:off x="776459" y="1801527"/>
            <a:ext cx="80791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2EBEEF"/>
                </a:solidFill>
              </a:rPr>
              <a:t>电制动扭矩请求前轴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2EBEEF"/>
              </a:solidFill>
              <a:effectLst/>
              <a:uLnTx/>
              <a:uFillTx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4BCC8D90-1A73-C5D1-C177-F08C45C72780}"/>
              </a:ext>
            </a:extLst>
          </p:cNvPr>
          <p:cNvSpPr txBox="1"/>
          <p:nvPr/>
        </p:nvSpPr>
        <p:spPr>
          <a:xfrm>
            <a:off x="784043" y="2071068"/>
            <a:ext cx="80791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265F"/>
                </a:solidFill>
              </a:rPr>
              <a:t>电制动扭矩请求后轴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3885E65-C50C-4BF1-6A3F-1C68F3F59653}"/>
              </a:ext>
            </a:extLst>
          </p:cNvPr>
          <p:cNvCxnSpPr>
            <a:cxnSpLocks/>
          </p:cNvCxnSpPr>
          <p:nvPr/>
        </p:nvCxnSpPr>
        <p:spPr>
          <a:xfrm flipV="1">
            <a:off x="2839994" y="1217141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43797E5-1D13-EB82-4C72-3E6BD702B5ED}"/>
              </a:ext>
            </a:extLst>
          </p:cNvPr>
          <p:cNvCxnSpPr>
            <a:cxnSpLocks/>
          </p:cNvCxnSpPr>
          <p:nvPr/>
        </p:nvCxnSpPr>
        <p:spPr>
          <a:xfrm>
            <a:off x="3064476" y="1208904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65948D00-AC93-5DEC-CBB8-53B63F58E370}"/>
              </a:ext>
            </a:extLst>
          </p:cNvPr>
          <p:cNvCxnSpPr>
            <a:cxnSpLocks/>
          </p:cNvCxnSpPr>
          <p:nvPr/>
        </p:nvCxnSpPr>
        <p:spPr>
          <a:xfrm>
            <a:off x="2839994" y="1952368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D931EAD-5CC2-3D80-0DFB-20CA2CD41862}"/>
              </a:ext>
            </a:extLst>
          </p:cNvPr>
          <p:cNvCxnSpPr>
            <a:cxnSpLocks/>
          </p:cNvCxnSpPr>
          <p:nvPr/>
        </p:nvCxnSpPr>
        <p:spPr>
          <a:xfrm>
            <a:off x="3064476" y="2209801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25" name="Bogen 24">
            <a:extLst>
              <a:ext uri="{FF2B5EF4-FFF2-40B4-BE49-F238E27FC236}">
                <a16:creationId xmlns:a16="http://schemas.microsoft.com/office/drawing/2014/main" id="{57090A8D-AD43-A278-C48A-95D98694A088}"/>
              </a:ext>
            </a:extLst>
          </p:cNvPr>
          <p:cNvSpPr/>
          <p:nvPr/>
        </p:nvSpPr>
        <p:spPr>
          <a:xfrm rot="10800000">
            <a:off x="5659393" y="-49429"/>
            <a:ext cx="327453" cy="2543627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Bogen 25">
            <a:extLst>
              <a:ext uri="{FF2B5EF4-FFF2-40B4-BE49-F238E27FC236}">
                <a16:creationId xmlns:a16="http://schemas.microsoft.com/office/drawing/2014/main" id="{A82A014B-F295-7FE2-D408-523BF13AFE47}"/>
              </a:ext>
            </a:extLst>
          </p:cNvPr>
          <p:cNvSpPr/>
          <p:nvPr/>
        </p:nvSpPr>
        <p:spPr>
          <a:xfrm rot="10800000">
            <a:off x="5638793" y="1928336"/>
            <a:ext cx="440717" cy="575447"/>
          </a:xfrm>
          <a:prstGeom prst="arc">
            <a:avLst/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AB074CDD-4CB4-86DA-9BC1-C92754B66490}"/>
              </a:ext>
            </a:extLst>
          </p:cNvPr>
          <p:cNvCxnSpPr>
            <a:cxnSpLocks/>
          </p:cNvCxnSpPr>
          <p:nvPr/>
        </p:nvCxnSpPr>
        <p:spPr>
          <a:xfrm flipV="1">
            <a:off x="5823123" y="3715909"/>
            <a:ext cx="227942" cy="347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ED4E30E3-38A3-9441-1BFF-821CEA7613E6}"/>
              </a:ext>
            </a:extLst>
          </p:cNvPr>
          <p:cNvSpPr txBox="1"/>
          <p:nvPr/>
        </p:nvSpPr>
        <p:spPr>
          <a:xfrm>
            <a:off x="932386" y="718461"/>
            <a:ext cx="10371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CST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功能未激活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DFE2D9C9-3DE7-1FE8-2DE4-8CBF01532B26}"/>
              </a:ext>
            </a:extLst>
          </p:cNvPr>
          <p:cNvSpPr txBox="1"/>
          <p:nvPr/>
        </p:nvSpPr>
        <p:spPr>
          <a:xfrm>
            <a:off x="3566934" y="675354"/>
            <a:ext cx="8832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CST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49E96782-5DBB-A3DA-530A-C0C3A95E92FD}"/>
              </a:ext>
            </a:extLst>
          </p:cNvPr>
          <p:cNvSpPr txBox="1"/>
          <p:nvPr/>
        </p:nvSpPr>
        <p:spPr>
          <a:xfrm>
            <a:off x="6047295" y="65130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车辆静止停车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0240FED-FF2E-435F-3E72-8253DA242F75}"/>
              </a:ext>
            </a:extLst>
          </p:cNvPr>
          <p:cNvCxnSpPr>
            <a:cxnSpLocks/>
          </p:cNvCxnSpPr>
          <p:nvPr/>
        </p:nvCxnSpPr>
        <p:spPr>
          <a:xfrm>
            <a:off x="6047295" y="1064040"/>
            <a:ext cx="0" cy="356768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49" name="Sprechblase: rechteckig 48">
            <a:extLst>
              <a:ext uri="{FF2B5EF4-FFF2-40B4-BE49-F238E27FC236}">
                <a16:creationId xmlns:a16="http://schemas.microsoft.com/office/drawing/2014/main" id="{60CF9986-7874-5F79-015D-B0A2000939D5}"/>
              </a:ext>
            </a:extLst>
          </p:cNvPr>
          <p:cNvSpPr/>
          <p:nvPr/>
        </p:nvSpPr>
        <p:spPr>
          <a:xfrm>
            <a:off x="6891655" y="1051915"/>
            <a:ext cx="2168919" cy="1332932"/>
          </a:xfrm>
          <a:prstGeom prst="wedgeRectCallout">
            <a:avLst>
              <a:gd name="adj1" fmla="val -82015"/>
              <a:gd name="adj2" fmla="val 40108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VMC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CST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功能负责</a:t>
            </a:r>
            <a:r>
              <a:rPr lang="en-US" altLang="zh-CN" sz="1200" kern="0" dirty="0">
                <a:latin typeface="Tahoma"/>
                <a:cs typeface="Tahoma" pitchFamily="34" charset="0"/>
              </a:rPr>
              <a:t>ramp up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机械扭矩到驾驶员目标值：</a:t>
            </a:r>
            <a:endParaRPr lang="en-US" altLang="zh-CN" sz="1200" kern="0" dirty="0">
              <a:latin typeface="Tahoma"/>
              <a:cs typeface="Tahoma" pitchFamily="34" charset="0"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kern="0" dirty="0">
                <a:solidFill>
                  <a:srgbClr val="000000"/>
                </a:solidFill>
              </a:rPr>
              <a:t>=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DrRqdFrntShftBrkTorq</a:t>
            </a:r>
            <a:r>
              <a:rPr lang="en-US" altLang="zh-CN" sz="800" kern="0" dirty="0">
                <a:solidFill>
                  <a:srgbClr val="000000"/>
                </a:solidFill>
              </a:rPr>
              <a:t> + 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DrRqdRearShftBrkTorq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  <a:r>
              <a:rPr lang="zh-CN" altLang="en-US" sz="800" kern="0" dirty="0">
                <a:solidFill>
                  <a:srgbClr val="000000"/>
                </a:solidFill>
              </a:rPr>
              <a:t>这个信号无需新增，会按照</a:t>
            </a:r>
            <a:r>
              <a:rPr lang="en-US" altLang="zh-CN" sz="800" kern="0" dirty="0">
                <a:solidFill>
                  <a:srgbClr val="000000"/>
                </a:solidFill>
              </a:rPr>
              <a:t>3500Nm/s </a:t>
            </a:r>
            <a:r>
              <a:rPr lang="zh-CN" altLang="en-US" sz="800" kern="0" dirty="0">
                <a:solidFill>
                  <a:srgbClr val="000000"/>
                </a:solidFill>
              </a:rPr>
              <a:t>的斜率发送这个值给制动。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</a:pP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784F9162-0B12-4FA5-C976-50467F4EE5B0}"/>
              </a:ext>
            </a:extLst>
          </p:cNvPr>
          <p:cNvCxnSpPr>
            <a:cxnSpLocks/>
          </p:cNvCxnSpPr>
          <p:nvPr/>
        </p:nvCxnSpPr>
        <p:spPr>
          <a:xfrm flipH="1">
            <a:off x="5823123" y="4324254"/>
            <a:ext cx="197306" cy="267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A21FB39A-90CD-1702-2D5F-A6AD759673D8}"/>
              </a:ext>
            </a:extLst>
          </p:cNvPr>
          <p:cNvCxnSpPr>
            <a:cxnSpLocks/>
          </p:cNvCxnSpPr>
          <p:nvPr/>
        </p:nvCxnSpPr>
        <p:spPr>
          <a:xfrm>
            <a:off x="2850050" y="909831"/>
            <a:ext cx="3450209" cy="2074"/>
          </a:xfrm>
          <a:prstGeom prst="straightConnector1">
            <a:avLst/>
          </a:prstGeom>
          <a:noFill/>
          <a:ln w="6350" cap="rnd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D4572591-D87C-FA5E-1394-F721900ACEA4}"/>
              </a:ext>
            </a:extLst>
          </p:cNvPr>
          <p:cNvCxnSpPr>
            <a:cxnSpLocks/>
          </p:cNvCxnSpPr>
          <p:nvPr/>
        </p:nvCxnSpPr>
        <p:spPr>
          <a:xfrm>
            <a:off x="5854646" y="860020"/>
            <a:ext cx="250511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60E75279-4AF9-6D23-DA44-FD2EE348C507}"/>
              </a:ext>
            </a:extLst>
          </p:cNvPr>
          <p:cNvCxnSpPr>
            <a:cxnSpLocks/>
          </p:cNvCxnSpPr>
          <p:nvPr/>
        </p:nvCxnSpPr>
        <p:spPr>
          <a:xfrm>
            <a:off x="597301" y="911905"/>
            <a:ext cx="227257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0" name="Gerader Verbinder 49">
            <a:extLst>
              <a:ext uri="{FF2B5EF4-FFF2-40B4-BE49-F238E27FC236}">
                <a16:creationId xmlns:a16="http://schemas.microsoft.com/office/drawing/2014/main" id="{E97F7E7B-55BD-80D9-F41C-96DF39E26FA9}"/>
              </a:ext>
            </a:extLst>
          </p:cNvPr>
          <p:cNvCxnSpPr>
            <a:cxnSpLocks/>
          </p:cNvCxnSpPr>
          <p:nvPr/>
        </p:nvCxnSpPr>
        <p:spPr>
          <a:xfrm flipH="1" flipV="1">
            <a:off x="2841059" y="4036558"/>
            <a:ext cx="2988000" cy="9594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C0336DA8-9BD5-3DBA-0C39-3EA848D87668}"/>
              </a:ext>
            </a:extLst>
          </p:cNvPr>
          <p:cNvSpPr txBox="1"/>
          <p:nvPr/>
        </p:nvSpPr>
        <p:spPr>
          <a:xfrm>
            <a:off x="3134670" y="3836957"/>
            <a:ext cx="240398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扭矩控制模式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TarRegTrqCtrlRqst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6FF1DC2-9178-A76A-E278-BE627DCA8692}"/>
              </a:ext>
            </a:extLst>
          </p:cNvPr>
          <p:cNvSpPr txBox="1"/>
          <p:nvPr/>
        </p:nvSpPr>
        <p:spPr>
          <a:xfrm>
            <a:off x="5391895" y="4138842"/>
            <a:ext cx="20279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转速控制模式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TarRpmCtrlRqst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0" name="Gerader Verbinder 27">
            <a:extLst>
              <a:ext uri="{FF2B5EF4-FFF2-40B4-BE49-F238E27FC236}">
                <a16:creationId xmlns:a16="http://schemas.microsoft.com/office/drawing/2014/main" id="{052B1301-A0E3-CBF6-1543-4F1AEDF98F4C}"/>
              </a:ext>
            </a:extLst>
          </p:cNvPr>
          <p:cNvCxnSpPr>
            <a:cxnSpLocks/>
          </p:cNvCxnSpPr>
          <p:nvPr/>
        </p:nvCxnSpPr>
        <p:spPr>
          <a:xfrm>
            <a:off x="2841057" y="2903132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" name="Gerader Verbinder 32">
            <a:extLst>
              <a:ext uri="{FF2B5EF4-FFF2-40B4-BE49-F238E27FC236}">
                <a16:creationId xmlns:a16="http://schemas.microsoft.com/office/drawing/2014/main" id="{4A08F896-67A6-5A75-2FF8-718CE9D3669F}"/>
              </a:ext>
            </a:extLst>
          </p:cNvPr>
          <p:cNvCxnSpPr>
            <a:cxnSpLocks/>
          </p:cNvCxnSpPr>
          <p:nvPr/>
        </p:nvCxnSpPr>
        <p:spPr>
          <a:xfrm>
            <a:off x="3055483" y="3719380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1" name="Gerader Verbinder 4">
            <a:extLst>
              <a:ext uri="{FF2B5EF4-FFF2-40B4-BE49-F238E27FC236}">
                <a16:creationId xmlns:a16="http://schemas.microsoft.com/office/drawing/2014/main" id="{322F1A94-8E84-6200-5E2F-2A80DA2E072B}"/>
              </a:ext>
            </a:extLst>
          </p:cNvPr>
          <p:cNvCxnSpPr>
            <a:cxnSpLocks/>
          </p:cNvCxnSpPr>
          <p:nvPr/>
        </p:nvCxnSpPr>
        <p:spPr>
          <a:xfrm flipV="1">
            <a:off x="2842881" y="2557448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24" name="Gerader Verbinder 8">
            <a:extLst>
              <a:ext uri="{FF2B5EF4-FFF2-40B4-BE49-F238E27FC236}">
                <a16:creationId xmlns:a16="http://schemas.microsoft.com/office/drawing/2014/main" id="{E14276D0-4BA3-E1C3-A556-36D80B47B4C1}"/>
              </a:ext>
            </a:extLst>
          </p:cNvPr>
          <p:cNvCxnSpPr>
            <a:cxnSpLocks/>
          </p:cNvCxnSpPr>
          <p:nvPr/>
        </p:nvCxnSpPr>
        <p:spPr>
          <a:xfrm>
            <a:off x="3067363" y="2560217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2" name="Gerader Verbinder 12">
            <a:extLst>
              <a:ext uri="{FF2B5EF4-FFF2-40B4-BE49-F238E27FC236}">
                <a16:creationId xmlns:a16="http://schemas.microsoft.com/office/drawing/2014/main" id="{3F849424-10F0-5089-8EEA-7C43EE771E99}"/>
              </a:ext>
            </a:extLst>
          </p:cNvPr>
          <p:cNvCxnSpPr>
            <a:cxnSpLocks/>
          </p:cNvCxnSpPr>
          <p:nvPr/>
        </p:nvCxnSpPr>
        <p:spPr>
          <a:xfrm>
            <a:off x="2842053" y="3300380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C228109-745A-56E8-6E30-ADD28A090314}"/>
              </a:ext>
            </a:extLst>
          </p:cNvPr>
          <p:cNvCxnSpPr>
            <a:cxnSpLocks/>
          </p:cNvCxnSpPr>
          <p:nvPr/>
        </p:nvCxnSpPr>
        <p:spPr>
          <a:xfrm>
            <a:off x="3077537" y="3557813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38" name="Bogen 25">
            <a:extLst>
              <a:ext uri="{FF2B5EF4-FFF2-40B4-BE49-F238E27FC236}">
                <a16:creationId xmlns:a16="http://schemas.microsoft.com/office/drawing/2014/main" id="{476B8304-E8EB-F82B-2AAA-65B164095C3D}"/>
              </a:ext>
            </a:extLst>
          </p:cNvPr>
          <p:cNvSpPr/>
          <p:nvPr/>
        </p:nvSpPr>
        <p:spPr>
          <a:xfrm rot="10800000">
            <a:off x="5634288" y="3215523"/>
            <a:ext cx="440717" cy="498601"/>
          </a:xfrm>
          <a:prstGeom prst="arc">
            <a:avLst>
              <a:gd name="adj1" fmla="val 16200000"/>
              <a:gd name="adj2" fmla="val 20101365"/>
            </a:avLst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Bogen 24">
            <a:extLst>
              <a:ext uri="{FF2B5EF4-FFF2-40B4-BE49-F238E27FC236}">
                <a16:creationId xmlns:a16="http://schemas.microsoft.com/office/drawing/2014/main" id="{E4BD0D70-2EB8-BC0A-882D-A1404277B18E}"/>
              </a:ext>
            </a:extLst>
          </p:cNvPr>
          <p:cNvSpPr/>
          <p:nvPr/>
        </p:nvSpPr>
        <p:spPr>
          <a:xfrm rot="10800000">
            <a:off x="5668514" y="1417868"/>
            <a:ext cx="327453" cy="2303995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09D855D-092B-722D-0DE6-512DB69664FC}"/>
              </a:ext>
            </a:extLst>
          </p:cNvPr>
          <p:cNvSpPr/>
          <p:nvPr/>
        </p:nvSpPr>
        <p:spPr>
          <a:xfrm>
            <a:off x="399932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8909BC-44E8-3FA1-3678-C60A08B12344}"/>
              </a:ext>
            </a:extLst>
          </p:cNvPr>
          <p:cNvSpPr txBox="1"/>
          <p:nvPr/>
        </p:nvSpPr>
        <p:spPr>
          <a:xfrm>
            <a:off x="4629582" y="31955"/>
            <a:ext cx="2009411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驾驶员请求扭矩与实际车辆减速扭矩一致：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PrDrvShftDrRqstdTorqDff_FD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ThScdDrvShftDrRqstdTorqDffHCU_FD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9BE5512C-14B5-CE37-2CFE-6B52606DD1B0}"/>
              </a:ext>
            </a:extLst>
          </p:cNvPr>
          <p:cNvSpPr/>
          <p:nvPr/>
        </p:nvSpPr>
        <p:spPr>
          <a:xfrm>
            <a:off x="5656217" y="1016493"/>
            <a:ext cx="169817" cy="1491576"/>
          </a:xfrm>
          <a:custGeom>
            <a:avLst/>
            <a:gdLst>
              <a:gd name="csX0" fmla="*/ 0 w 169817"/>
              <a:gd name="csY0" fmla="*/ 0 h 1306286"/>
              <a:gd name="csX1" fmla="*/ 0 w 169817"/>
              <a:gd name="csY1" fmla="*/ 1306286 h 1306286"/>
              <a:gd name="csX2" fmla="*/ 169817 w 169817"/>
              <a:gd name="csY2" fmla="*/ 1299754 h 1306286"/>
              <a:gd name="csX3" fmla="*/ 0 w 169817"/>
              <a:gd name="csY3" fmla="*/ 0 h 1306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9817" h="1306286">
                <a:moveTo>
                  <a:pt x="0" y="0"/>
                </a:moveTo>
                <a:lnTo>
                  <a:pt x="0" y="1306286"/>
                </a:lnTo>
                <a:lnTo>
                  <a:pt x="169817" y="1299754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23922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E6E3119-F901-4D21-64E6-A3D2D2072A31}"/>
              </a:ext>
            </a:extLst>
          </p:cNvPr>
          <p:cNvSpPr/>
          <p:nvPr/>
        </p:nvSpPr>
        <p:spPr>
          <a:xfrm>
            <a:off x="6462275" y="210531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7265984-5D0D-D6D1-913A-1BCCCCFFFE15}"/>
              </a:ext>
            </a:extLst>
          </p:cNvPr>
          <p:cNvSpPr txBox="1"/>
          <p:nvPr/>
        </p:nvSpPr>
        <p:spPr>
          <a:xfrm>
            <a:off x="7036617" y="213551"/>
            <a:ext cx="2009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此时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CST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实际请求的减速扭矩</a:t>
            </a:r>
            <a:r>
              <a:rPr lang="en-US" altLang="zh-CN" sz="700" kern="0" dirty="0">
                <a:solidFill>
                  <a:srgbClr val="000000"/>
                </a:solidFill>
              </a:rPr>
              <a:t>&lt;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驾驶员请求的减速扭矩</a:t>
            </a:r>
          </a:p>
        </p:txBody>
      </p:sp>
      <p:cxnSp>
        <p:nvCxnSpPr>
          <p:cNvPr id="65" name="Gerader Verbinder 7">
            <a:extLst>
              <a:ext uri="{FF2B5EF4-FFF2-40B4-BE49-F238E27FC236}">
                <a16:creationId xmlns:a16="http://schemas.microsoft.com/office/drawing/2014/main" id="{9897C0C7-2A8D-9F53-21DC-705180BC5293}"/>
              </a:ext>
            </a:extLst>
          </p:cNvPr>
          <p:cNvCxnSpPr>
            <a:cxnSpLocks/>
          </p:cNvCxnSpPr>
          <p:nvPr/>
        </p:nvCxnSpPr>
        <p:spPr>
          <a:xfrm>
            <a:off x="6278184" y="624052"/>
            <a:ext cx="16913" cy="40014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66" name="Gerader Verbinder 30">
            <a:extLst>
              <a:ext uri="{FF2B5EF4-FFF2-40B4-BE49-F238E27FC236}">
                <a16:creationId xmlns:a16="http://schemas.microsoft.com/office/drawing/2014/main" id="{3D3486CD-939E-4139-F9E4-0073D5972DC2}"/>
              </a:ext>
            </a:extLst>
          </p:cNvPr>
          <p:cNvCxnSpPr>
            <a:cxnSpLocks/>
          </p:cNvCxnSpPr>
          <p:nvPr/>
        </p:nvCxnSpPr>
        <p:spPr>
          <a:xfrm flipH="1">
            <a:off x="6047295" y="2628766"/>
            <a:ext cx="230889" cy="1094051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71" name="Gerader Verbinder 26">
            <a:extLst>
              <a:ext uri="{FF2B5EF4-FFF2-40B4-BE49-F238E27FC236}">
                <a16:creationId xmlns:a16="http://schemas.microsoft.com/office/drawing/2014/main" id="{44516934-F0F3-31F2-B7EA-ED303EEEAF0A}"/>
              </a:ext>
            </a:extLst>
          </p:cNvPr>
          <p:cNvCxnSpPr/>
          <p:nvPr/>
        </p:nvCxnSpPr>
        <p:spPr>
          <a:xfrm>
            <a:off x="6295097" y="993934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87D229E-3701-E755-0109-F8F5B574E105}"/>
              </a:ext>
            </a:extLst>
          </p:cNvPr>
          <p:cNvSpPr txBox="1"/>
          <p:nvPr/>
        </p:nvSpPr>
        <p:spPr>
          <a:xfrm>
            <a:off x="2984897" y="2686946"/>
            <a:ext cx="2393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起始点：</a:t>
            </a:r>
            <a:r>
              <a:rPr lang="en-US" altLang="zh-CN" sz="700" kern="0" dirty="0" err="1">
                <a:solidFill>
                  <a:srgbClr val="FF0000"/>
                </a:solidFill>
              </a:rPr>
              <a:t>VehTargtDecelBrkTorq</a:t>
            </a:r>
            <a:r>
              <a:rPr lang="en-US" altLang="zh-CN" sz="700" kern="0" dirty="0">
                <a:solidFill>
                  <a:srgbClr val="FF0000"/>
                </a:solidFill>
              </a:rPr>
              <a:t>=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DrRqdFrntShftBrkTorq</a:t>
            </a:r>
            <a:r>
              <a:rPr lang="en-US" altLang="zh-CN" sz="700" kern="0" dirty="0">
                <a:solidFill>
                  <a:srgbClr val="FF0000"/>
                </a:solidFill>
              </a:rPr>
              <a:t> + 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DrRqdRearShftBrkTorq</a:t>
            </a: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斜率按照</a:t>
            </a:r>
            <a:r>
              <a:rPr lang="en-US" altLang="zh-CN" sz="700" kern="0" dirty="0">
                <a:solidFill>
                  <a:srgbClr val="FF0000"/>
                </a:solidFill>
              </a:rPr>
              <a:t>3500Nm/s </a:t>
            </a:r>
            <a:r>
              <a:rPr lang="zh-CN" altLang="en-US" sz="700" kern="0" dirty="0">
                <a:solidFill>
                  <a:srgbClr val="FF0000"/>
                </a:solidFill>
              </a:rPr>
              <a:t>斜率下降到</a:t>
            </a:r>
            <a:r>
              <a:rPr lang="en-US" altLang="zh-CN" sz="700" kern="0" dirty="0">
                <a:solidFill>
                  <a:srgbClr val="FF0000"/>
                </a:solidFill>
              </a:rPr>
              <a:t>0.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7D98079-3399-563B-D913-2952B24F5C07}"/>
              </a:ext>
            </a:extLst>
          </p:cNvPr>
          <p:cNvSpPr txBox="1"/>
          <p:nvPr/>
        </p:nvSpPr>
        <p:spPr>
          <a:xfrm>
            <a:off x="6286640" y="2566049"/>
            <a:ext cx="2393253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斜率按照</a:t>
            </a:r>
            <a:r>
              <a:rPr lang="en-US" altLang="zh-CN" sz="700" kern="0" dirty="0">
                <a:solidFill>
                  <a:srgbClr val="FF0000"/>
                </a:solidFill>
              </a:rPr>
              <a:t>3500Nm/s </a:t>
            </a:r>
            <a:r>
              <a:rPr lang="zh-CN" altLang="en-US" sz="700" kern="0" dirty="0">
                <a:solidFill>
                  <a:srgbClr val="FF0000"/>
                </a:solidFill>
              </a:rPr>
              <a:t>斜率从</a:t>
            </a:r>
            <a:r>
              <a:rPr lang="en-US" altLang="zh-CN" sz="700" kern="0" dirty="0">
                <a:solidFill>
                  <a:srgbClr val="FF0000"/>
                </a:solidFill>
              </a:rPr>
              <a:t>0</a:t>
            </a:r>
            <a:r>
              <a:rPr lang="zh-CN" altLang="en-US" sz="700" kern="0" dirty="0">
                <a:solidFill>
                  <a:srgbClr val="FF0000"/>
                </a:solidFill>
              </a:rPr>
              <a:t>升到目标。</a:t>
            </a: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FF0000"/>
                </a:solidFill>
              </a:rPr>
              <a:t>VehTargtDecelBrkTorq</a:t>
            </a:r>
            <a:r>
              <a:rPr lang="en-US" altLang="zh-CN" sz="700" kern="0" dirty="0">
                <a:solidFill>
                  <a:srgbClr val="FF0000"/>
                </a:solidFill>
              </a:rPr>
              <a:t>=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DrRqdFrntShftBrkTorq</a:t>
            </a:r>
            <a:r>
              <a:rPr lang="en-US" altLang="zh-CN" sz="700" kern="0" dirty="0">
                <a:solidFill>
                  <a:srgbClr val="FF0000"/>
                </a:solidFill>
              </a:rPr>
              <a:t> + 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DrRqdRearShftBrkTorq</a:t>
            </a: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请求达到目标即可退出</a:t>
            </a:r>
            <a:r>
              <a:rPr lang="en-US" altLang="zh-CN" sz="700" kern="0" dirty="0">
                <a:solidFill>
                  <a:srgbClr val="FF0000"/>
                </a:solidFill>
              </a:rPr>
              <a:t>CST</a:t>
            </a:r>
            <a:r>
              <a:rPr lang="zh-CN" altLang="en-US" sz="700" kern="0" dirty="0">
                <a:solidFill>
                  <a:srgbClr val="FF0000"/>
                </a:solidFill>
              </a:rPr>
              <a:t>功能，无需校验实际制动力是否达标。</a:t>
            </a:r>
            <a:endParaRPr lang="en-US" altLang="zh-CN" sz="7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4980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heme/theme1.xml><?xml version="1.0" encoding="utf-8"?>
<a:theme xmlns:a="http://schemas.openxmlformats.org/drawingml/2006/main" name="ZF AG">
  <a:themeElements>
    <a:clrScheme name="Benutzerdefiniert 3">
      <a:dk1>
        <a:srgbClr val="000000"/>
      </a:dk1>
      <a:lt1>
        <a:srgbClr val="FFFFFF"/>
      </a:lt1>
      <a:dk2>
        <a:srgbClr val="00ABE7"/>
      </a:dk2>
      <a:lt2>
        <a:srgbClr val="ACBBC5"/>
      </a:lt2>
      <a:accent1>
        <a:srgbClr val="768E9F"/>
      </a:accent1>
      <a:accent2>
        <a:srgbClr val="93D5F6"/>
      </a:accent2>
      <a:accent3>
        <a:srgbClr val="CEEBFC"/>
      </a:accent3>
      <a:accent4>
        <a:srgbClr val="475968"/>
      </a:accent4>
      <a:accent5>
        <a:srgbClr val="0057B7"/>
      </a:accent5>
      <a:accent6>
        <a:srgbClr val="2EBEEF"/>
      </a:accent6>
      <a:hlink>
        <a:srgbClr val="0057B7"/>
      </a:hlink>
      <a:folHlink>
        <a:srgbClr val="768E9F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 cap="flat" cmpd="sng" algn="ctr">
          <a:noFill/>
          <a:prstDash val="soli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Tahoma"/>
            <a:ea typeface="+mn-ea"/>
            <a:cs typeface="Tahoma" pitchFamily="34" charset="0"/>
          </a:defRPr>
        </a:defPPr>
      </a:lstStyle>
    </a:spDef>
    <a:lnDef>
      <a:spPr>
        <a:noFill/>
        <a:ln w="6350" cap="rnd" cmpd="sng" algn="ctr">
          <a:solidFill>
            <a:schemeClr val="bg2"/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ZF Cyan 100%">
      <a:srgbClr val="00ABE7"/>
    </a:custClr>
    <a:custClr name="ZF Cyan 75%">
      <a:srgbClr val="2EBEEF"/>
    </a:custClr>
    <a:custClr name="ZF Cyan 50%">
      <a:srgbClr val="93D5F6"/>
    </a:custClr>
    <a:custClr name="ZF Cyan 25%">
      <a:srgbClr val="CEEBFC"/>
    </a:custClr>
    <a:custClr>
      <a:srgbClr val="FFFFFF"/>
    </a:custClr>
    <a:custClr name="ZF Blue / 1. Step color gradient">
      <a:srgbClr val="0057B7"/>
    </a:custClr>
    <a:custClr name="ZF Dark Blue / 2. Step color gradient">
      <a:srgbClr val="000828"/>
    </a:custClr>
    <a:custClr name="ZF Middle Blue">
      <a:srgbClr val="00265F"/>
    </a:custClr>
    <a:custClr>
      <a:srgbClr val="FFFFFF"/>
    </a:custClr>
    <a:custClr name="ZF Red">
      <a:srgbClr val="E52330"/>
    </a:custClr>
    <a:custClr name="ZF Black 100%">
      <a:srgbClr val="000000"/>
    </a:custClr>
    <a:custClr name="ZF Gray 800">
      <a:srgbClr val="475968"/>
    </a:custClr>
    <a:custClr name="ZF Gray 500">
      <a:srgbClr val="768E9F"/>
    </a:custClr>
    <a:custClr name="ZF Gray 300">
      <a:srgbClr val="ACBBC5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ZF Aqua 100% (Chart color)">
      <a:srgbClr val="00A7AB"/>
    </a:custClr>
    <a:custClr name="ZF Aqua 50% (Chart color)">
      <a:srgbClr val="A2D3D6"/>
    </a:custClr>
    <a:custClr name="ZF Purple 100% (Chart color)">
      <a:srgbClr val="524E9C"/>
    </a:custClr>
    <a:custClr name="ZF Purple 50% (Chart color)">
      <a:srgbClr val="A6A1D0"/>
    </a:custClr>
    <a:custClr name="ZF Orange 100% (Chart color)">
      <a:srgbClr val="F28A3D"/>
    </a:custClr>
    <a:custClr name="ZF Orange 50% (Chart color)">
      <a:srgbClr val="FAC89F"/>
    </a:custClr>
  </a:custClrLst>
  <a:extLst>
    <a:ext uri="{05A4C25C-085E-4340-85A3-A5531E510DB2}">
      <thm15:themeFamily xmlns:thm15="http://schemas.microsoft.com/office/thememl/2012/main" name="master_zf.potx" id="{0C20BA16-1FCA-489C-8054-EED9591F7A61}" vid="{2BC6EB19-77C4-4617-9BC8-50CED133014D}"/>
    </a:ext>
  </a:extLst>
</a:theme>
</file>

<file path=ppt/theme/theme2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ECDE3992A08C4AB27EAAF617A05967" ma:contentTypeVersion="18" ma:contentTypeDescription="Create a new document." ma:contentTypeScope="" ma:versionID="9683c085a59988fd2dc84fe522921e1c">
  <xsd:schema xmlns:xsd="http://www.w3.org/2001/XMLSchema" xmlns:xs="http://www.w3.org/2001/XMLSchema" xmlns:p="http://schemas.microsoft.com/office/2006/metadata/properties" xmlns:ns2="455088e1-af34-4927-a3f0-bdce59540293" xmlns:ns3="f4ecdb93-bc7f-4438-8c77-236ab96c18a9" targetNamespace="http://schemas.microsoft.com/office/2006/metadata/properties" ma:root="true" ma:fieldsID="7184c417cebe2c46bf9076e6fd8b1060" ns2:_="" ns3:_="">
    <xsd:import namespace="455088e1-af34-4927-a3f0-bdce59540293"/>
    <xsd:import namespace="f4ecdb93-bc7f-4438-8c77-236ab96c1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testStatus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3:PrimeAutofillMe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088e1-af34-4927-a3f0-bdce59540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testStatus" ma:index="20" nillable="true" ma:displayName="Test status" ma:description="Summarizes overall test outcome so failed or mixed-result files can be found quickly." ma:internalName="testStatus">
      <xsd:simpleType>
        <xsd:restriction base="dms:Choice">
          <xsd:enumeration value="Pass"/>
          <xsd:enumeration value="Fail"/>
          <xsd:enumeration value="Error"/>
          <xsd:enumeration value="Skipped"/>
          <xsd:enumeration value="Mixed"/>
          <xsd:enumeration value="Not foun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cdb93-bc7f-4438-8c77-236ab96c18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8791390-06cd-44ed-84f9-ca1c8568e0c9}" ma:internalName="TaxCatchAll" ma:showField="CatchAllData" ma:web="f4ecdb93-bc7f-4438-8c77-236ab96c1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1" nillable="true" ma:displayName="Processing status" ma:internalName="PrimeClassificationStatus">
      <xsd:simpleType>
        <xsd:restriction base="dms:Text"/>
      </xsd:simpleType>
    </xsd:element>
    <xsd:element name="PrimeClassificationStatusDetails" ma:index="22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3" nillable="true" ma:displayName="Processed" ma:internalName="PrimeLastClassified">
      <xsd:simpleType>
        <xsd:restriction base="dms:DateTime"/>
      </xsd:simpleType>
    </xsd:element>
    <xsd:element name="PrimeCorrectedByUser" ma:index="24" nillable="true" ma:displayName="Corrected" ma:internalName="PrimeCorrectedByUser">
      <xsd:simpleType>
        <xsd:restriction base="dms:Boolean"/>
      </xsd:simpleType>
    </xsd:element>
    <xsd:element name="PrimeAutofillMeta" ma:index="25" nillable="true" ma:displayName="Autofill Meta" ma:hidden="true" ma:internalName="PrimeAutofillMeta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ecdb93-bc7f-4438-8c77-236ab96c18a9" xsi:nil="true"/>
    <lcf76f155ced4ddcb4097134ff3c332f xmlns="455088e1-af34-4927-a3f0-bdce59540293">
      <Terms xmlns="http://schemas.microsoft.com/office/infopath/2007/PartnerControls"/>
    </lcf76f155ced4ddcb4097134ff3c332f>
    <PrimeCorrectedByUser xmlns="f4ecdb93-bc7f-4438-8c77-236ab96c18a9" xsi:nil="true"/>
    <testStatus xmlns="455088e1-af34-4927-a3f0-bdce59540293">Not found</testStatus>
    <PrimeClassificationStatusDetails xmlns="f4ecdb93-bc7f-4438-8c77-236ab96c18a9" xsi:nil="true"/>
    <PrimeClassificationStatus xmlns="f4ecdb93-bc7f-4438-8c77-236ab96c18a9" xsi:nil="true"/>
    <PrimeLastClassified xmlns="f4ecdb93-bc7f-4438-8c77-236ab96c18a9" xsi:nil="true"/>
    <PrimeAutofillMeta xmlns="f4ecdb93-bc7f-4438-8c77-236ab96c18a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29420F-6AA6-4D8E-8EDC-8381BEBD8E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5088e1-af34-4927-a3f0-bdce59540293"/>
    <ds:schemaRef ds:uri="f4ecdb93-bc7f-4438-8c77-236ab96c18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35380E-1B53-4838-81C3-2AB9939B6FC6}">
  <ds:schemaRefs>
    <ds:schemaRef ds:uri="http://schemas.microsoft.com/office/2006/metadata/properties"/>
    <ds:schemaRef ds:uri="http://schemas.microsoft.com/office/infopath/2007/PartnerControls"/>
    <ds:schemaRef ds:uri="f4ecdb93-bc7f-4438-8c77-236ab96c18a9"/>
    <ds:schemaRef ds:uri="455088e1-af34-4927-a3f0-bdce59540293"/>
  </ds:schemaRefs>
</ds:datastoreItem>
</file>

<file path=customXml/itemProps3.xml><?xml version="1.0" encoding="utf-8"?>
<ds:datastoreItem xmlns:ds="http://schemas.openxmlformats.org/officeDocument/2006/customXml" ds:itemID="{DDA0BA8E-434D-48CF-8C42-C96ADE6F01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171</Words>
  <Application>Microsoft Office PowerPoint</Application>
  <PresentationFormat>全屏显示(16:9)</PresentationFormat>
  <Paragraphs>36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Tahoma</vt:lpstr>
      <vt:lpstr>ZF AG</vt:lpstr>
      <vt:lpstr>CST Logic</vt:lpstr>
      <vt:lpstr>normal CST Scenario</vt:lpstr>
    </vt:vector>
  </TitlesOfParts>
  <Company>ZF Active Safety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Broetz Nicolas Dr. KBL DIRDC2</dc:creator>
  <cp:lastModifiedBy>Yang Zhen SGH CDAY223</cp:lastModifiedBy>
  <cp:revision>4</cp:revision>
  <cp:lastPrinted>2022-11-09T16:26:39Z</cp:lastPrinted>
  <dcterms:created xsi:type="dcterms:W3CDTF">2025-11-12T11:32:09Z</dcterms:created>
  <dcterms:modified xsi:type="dcterms:W3CDTF">2026-07-24T01:31:20Z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w_Agenda_1">
    <vt:lpwstr>Lorem ipsum dolor sit amet</vt:lpwstr>
  </property>
  <property fmtid="{D5CDD505-2E9C-101B-9397-08002B2CF9AE}" pid="3" name="tw_Agenda_2">
    <vt:lpwstr/>
  </property>
  <property fmtid="{D5CDD505-2E9C-101B-9397-08002B2CF9AE}" pid="4" name="tw_Agenda_3">
    <vt:lpwstr/>
  </property>
  <property fmtid="{D5CDD505-2E9C-101B-9397-08002B2CF9AE}" pid="5" name="tw_Agenda_4">
    <vt:lpwstr/>
  </property>
  <property fmtid="{D5CDD505-2E9C-101B-9397-08002B2CF9AE}" pid="6" name="tw_Agenda_5">
    <vt:lpwstr/>
  </property>
  <property fmtid="{D5CDD505-2E9C-101B-9397-08002B2CF9AE}" pid="7" name="tw_Agenda_6">
    <vt:lpwstr/>
  </property>
  <property fmtid="{D5CDD505-2E9C-101B-9397-08002B2CF9AE}" pid="8" name="tw_Agenda_7">
    <vt:lpwstr/>
  </property>
  <property fmtid="{D5CDD505-2E9C-101B-9397-08002B2CF9AE}" pid="9" name="tw_Agenda_8">
    <vt:lpwstr/>
  </property>
  <property fmtid="{D5CDD505-2E9C-101B-9397-08002B2CF9AE}" pid="10" name="tw_Agenda_9">
    <vt:lpwstr/>
  </property>
  <property fmtid="{D5CDD505-2E9C-101B-9397-08002B2CF9AE}" pid="11" name="tw_Agenda_10">
    <vt:lpwstr/>
  </property>
  <property fmtid="{D5CDD505-2E9C-101B-9397-08002B2CF9AE}" pid="12" name="tw_Agenda_11">
    <vt:lpwstr/>
  </property>
  <property fmtid="{D5CDD505-2E9C-101B-9397-08002B2CF9AE}" pid="13" name="tw_Agenda_12">
    <vt:lpwstr/>
  </property>
  <property fmtid="{D5CDD505-2E9C-101B-9397-08002B2CF9AE}" pid="14" name="ContentTypeId">
    <vt:lpwstr>0x010100F4ECDE3992A08C4AB27EAAF617A05967</vt:lpwstr>
  </property>
  <property fmtid="{D5CDD505-2E9C-101B-9397-08002B2CF9AE}" pid="15" name="MSIP_Label_7294a1c8-9899-41e7-8f6e-8b1b3c79592a_Enabled">
    <vt:lpwstr>true</vt:lpwstr>
  </property>
  <property fmtid="{D5CDD505-2E9C-101B-9397-08002B2CF9AE}" pid="16" name="MSIP_Label_7294a1c8-9899-41e7-8f6e-8b1b3c79592a_SetDate">
    <vt:lpwstr>2025-11-12T11:46:49Z</vt:lpwstr>
  </property>
  <property fmtid="{D5CDD505-2E9C-101B-9397-08002B2CF9AE}" pid="17" name="MSIP_Label_7294a1c8-9899-41e7-8f6e-8b1b3c79592a_Method">
    <vt:lpwstr>Privileged</vt:lpwstr>
  </property>
  <property fmtid="{D5CDD505-2E9C-101B-9397-08002B2CF9AE}" pid="18" name="MSIP_Label_7294a1c8-9899-41e7-8f6e-8b1b3c79592a_Name">
    <vt:lpwstr>Internal sub2 (no marking)</vt:lpwstr>
  </property>
  <property fmtid="{D5CDD505-2E9C-101B-9397-08002B2CF9AE}" pid="19" name="MSIP_Label_7294a1c8-9899-41e7-8f6e-8b1b3c79592a_SiteId">
    <vt:lpwstr>eb70b763-b6d7-4486-8555-8831709a784e</vt:lpwstr>
  </property>
  <property fmtid="{D5CDD505-2E9C-101B-9397-08002B2CF9AE}" pid="20" name="MSIP_Label_7294a1c8-9899-41e7-8f6e-8b1b3c79592a_ActionId">
    <vt:lpwstr>32ddd41e-cf12-4524-bb3d-d376f710a0e0</vt:lpwstr>
  </property>
  <property fmtid="{D5CDD505-2E9C-101B-9397-08002B2CF9AE}" pid="21" name="MSIP_Label_7294a1c8-9899-41e7-8f6e-8b1b3c79592a_ContentBits">
    <vt:lpwstr>0</vt:lpwstr>
  </property>
  <property fmtid="{D5CDD505-2E9C-101B-9397-08002B2CF9AE}" pid="22" name="MSIP_Label_7294a1c8-9899-41e7-8f6e-8b1b3c79592a_Tag">
    <vt:lpwstr>10, 0, 1, 1</vt:lpwstr>
  </property>
  <property fmtid="{D5CDD505-2E9C-101B-9397-08002B2CF9AE}" pid="23" name="MediaServiceImageTags">
    <vt:lpwstr/>
  </property>
</Properties>
</file>