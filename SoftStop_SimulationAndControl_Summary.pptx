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339" r:id="rId5"/>
    <p:sldId id="431" r:id="rId6"/>
    <p:sldId id="492" r:id="rId7"/>
    <p:sldId id="489" r:id="rId8"/>
    <p:sldId id="494" r:id="rId9"/>
    <p:sldId id="493" r:id="rId10"/>
    <p:sldId id="330" r:id="rId11"/>
    <p:sldId id="496" r:id="rId12"/>
    <p:sldId id="497" r:id="rId13"/>
    <p:sldId id="49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7"/>
    <a:srgbClr val="005CFF"/>
    <a:srgbClr val="E993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8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354A6CE5-210F-4377-AAE3-BB89AB9DF7D2}"/>
    <pc:docChg chg="undo custSel addSld modSld">
      <pc:chgData name="Yang Zhen SGH CDAY223" userId="58c6818a-3577-4ae3-8238-bcb4cc81b368" providerId="ADAL" clId="{354A6CE5-210F-4377-AAE3-BB89AB9DF7D2}" dt="2025-09-19T08:25:25.416" v="25" actId="14100"/>
      <pc:docMkLst>
        <pc:docMk/>
      </pc:docMkLst>
      <pc:sldChg chg="new">
        <pc:chgData name="Yang Zhen SGH CDAY223" userId="58c6818a-3577-4ae3-8238-bcb4cc81b368" providerId="ADAL" clId="{354A6CE5-210F-4377-AAE3-BB89AB9DF7D2}" dt="2025-09-19T08:15:30.329" v="0" actId="680"/>
        <pc:sldMkLst>
          <pc:docMk/>
          <pc:sldMk cId="1061394847" sldId="495"/>
        </pc:sldMkLst>
      </pc:sldChg>
      <pc:sldChg chg="addSp delSp modSp add mod">
        <pc:chgData name="Yang Zhen SGH CDAY223" userId="58c6818a-3577-4ae3-8238-bcb4cc81b368" providerId="ADAL" clId="{354A6CE5-210F-4377-AAE3-BB89AB9DF7D2}" dt="2025-09-19T08:16:58.773" v="17" actId="1076"/>
        <pc:sldMkLst>
          <pc:docMk/>
          <pc:sldMk cId="861063797" sldId="496"/>
        </pc:sldMkLst>
        <pc:spChg chg="del">
          <ac:chgData name="Yang Zhen SGH CDAY223" userId="58c6818a-3577-4ae3-8238-bcb4cc81b368" providerId="ADAL" clId="{354A6CE5-210F-4377-AAE3-BB89AB9DF7D2}" dt="2025-09-19T08:15:47.536" v="4" actId="478"/>
          <ac:spMkLst>
            <pc:docMk/>
            <pc:sldMk cId="861063797" sldId="496"/>
            <ac:spMk id="2" creationId="{87D73787-D4FE-D42E-2D6E-EBE3F51D2C78}"/>
          </ac:spMkLst>
        </pc:spChg>
        <pc:spChg chg="add mod">
          <ac:chgData name="Yang Zhen SGH CDAY223" userId="58c6818a-3577-4ae3-8238-bcb4cc81b368" providerId="ADAL" clId="{354A6CE5-210F-4377-AAE3-BB89AB9DF7D2}" dt="2025-09-19T08:16:52.542" v="16" actId="1076"/>
          <ac:spMkLst>
            <pc:docMk/>
            <pc:sldMk cId="861063797" sldId="496"/>
            <ac:spMk id="4" creationId="{45CA4BD1-BA36-F694-F289-34C44890F1D6}"/>
          </ac:spMkLst>
        </pc:spChg>
        <pc:spChg chg="add mod">
          <ac:chgData name="Yang Zhen SGH CDAY223" userId="58c6818a-3577-4ae3-8238-bcb4cc81b368" providerId="ADAL" clId="{354A6CE5-210F-4377-AAE3-BB89AB9DF7D2}" dt="2025-09-19T08:16:58.773" v="17" actId="1076"/>
          <ac:spMkLst>
            <pc:docMk/>
            <pc:sldMk cId="861063797" sldId="496"/>
            <ac:spMk id="7" creationId="{BC768E95-0448-58D5-E316-F324F773EB65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55" creationId="{31A7A51E-7AD8-DB1E-5A0C-D96A693B779F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63" creationId="{C86AF5D7-933F-BBE0-AC92-07A3A95A0B3D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64" creationId="{2915D67C-612E-8C9A-9755-9BF44488841F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65" creationId="{72BFEEB0-2AD5-7EAA-5B2C-EB1CE4DC8AE1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66" creationId="{69DE94A1-A686-6F5E-6703-20DB18318B67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67" creationId="{C3D3D01F-FAC9-63B8-CA4C-9BD4CA4E0A96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76" creationId="{685FFF4C-65CB-CD96-501A-28C9E2E34DB4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77" creationId="{5BF74B0C-0DA4-7BA0-DF80-ED056464B739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115" creationId="{77105235-E430-9BD1-F73C-E9353AE7008E}"/>
          </ac:spMkLst>
        </pc:spChg>
        <pc:spChg chg="del">
          <ac:chgData name="Yang Zhen SGH CDAY223" userId="58c6818a-3577-4ae3-8238-bcb4cc81b368" providerId="ADAL" clId="{354A6CE5-210F-4377-AAE3-BB89AB9DF7D2}" dt="2025-09-19T08:15:43.958" v="2" actId="478"/>
          <ac:spMkLst>
            <pc:docMk/>
            <pc:sldMk cId="861063797" sldId="496"/>
            <ac:spMk id="116" creationId="{39689E8F-51B0-32B3-B6EB-189BF140148C}"/>
          </ac:spMkLst>
        </pc:spChg>
        <pc:picChg chg="del">
          <ac:chgData name="Yang Zhen SGH CDAY223" userId="58c6818a-3577-4ae3-8238-bcb4cc81b368" providerId="ADAL" clId="{354A6CE5-210F-4377-AAE3-BB89AB9DF7D2}" dt="2025-09-19T08:15:44.873" v="3" actId="478"/>
          <ac:picMkLst>
            <pc:docMk/>
            <pc:sldMk cId="861063797" sldId="496"/>
            <ac:picMk id="6" creationId="{1B3BCEC0-C2B7-B0BE-3D82-486C29BAABC1}"/>
          </ac:picMkLst>
        </pc:picChg>
      </pc:sldChg>
      <pc:sldChg chg="addSp delSp modSp new mod">
        <pc:chgData name="Yang Zhen SGH CDAY223" userId="58c6818a-3577-4ae3-8238-bcb4cc81b368" providerId="ADAL" clId="{354A6CE5-210F-4377-AAE3-BB89AB9DF7D2}" dt="2025-09-19T08:25:25.416" v="25" actId="14100"/>
        <pc:sldMkLst>
          <pc:docMk/>
          <pc:sldMk cId="3286879120" sldId="497"/>
        </pc:sldMkLst>
        <pc:spChg chg="del">
          <ac:chgData name="Yang Zhen SGH CDAY223" userId="58c6818a-3577-4ae3-8238-bcb4cc81b368" providerId="ADAL" clId="{354A6CE5-210F-4377-AAE3-BB89AB9DF7D2}" dt="2025-09-19T08:24:23.568" v="19" actId="478"/>
          <ac:spMkLst>
            <pc:docMk/>
            <pc:sldMk cId="3286879120" sldId="497"/>
            <ac:spMk id="2" creationId="{36E872ED-6F76-C216-B1A2-942B504F444C}"/>
          </ac:spMkLst>
        </pc:spChg>
        <pc:spChg chg="del">
          <ac:chgData name="Yang Zhen SGH CDAY223" userId="58c6818a-3577-4ae3-8238-bcb4cc81b368" providerId="ADAL" clId="{354A6CE5-210F-4377-AAE3-BB89AB9DF7D2}" dt="2025-09-19T08:24:23.568" v="19" actId="478"/>
          <ac:spMkLst>
            <pc:docMk/>
            <pc:sldMk cId="3286879120" sldId="497"/>
            <ac:spMk id="3" creationId="{CD78B87F-5AE4-6772-8264-723175759934}"/>
          </ac:spMkLst>
        </pc:spChg>
        <pc:spChg chg="del">
          <ac:chgData name="Yang Zhen SGH CDAY223" userId="58c6818a-3577-4ae3-8238-bcb4cc81b368" providerId="ADAL" clId="{354A6CE5-210F-4377-AAE3-BB89AB9DF7D2}" dt="2025-09-19T08:24:23.568" v="19" actId="478"/>
          <ac:spMkLst>
            <pc:docMk/>
            <pc:sldMk cId="3286879120" sldId="497"/>
            <ac:spMk id="4" creationId="{512BB47B-0497-50F7-8678-F49D0EBACB03}"/>
          </ac:spMkLst>
        </pc:spChg>
        <pc:spChg chg="add del">
          <ac:chgData name="Yang Zhen SGH CDAY223" userId="58c6818a-3577-4ae3-8238-bcb4cc81b368" providerId="ADAL" clId="{354A6CE5-210F-4377-AAE3-BB89AB9DF7D2}" dt="2025-09-19T08:25:13.946" v="21" actId="22"/>
          <ac:spMkLst>
            <pc:docMk/>
            <pc:sldMk cId="3286879120" sldId="497"/>
            <ac:spMk id="6" creationId="{B0E45C73-AB8F-92CC-6B22-0255F79AD26F}"/>
          </ac:spMkLst>
        </pc:spChg>
        <pc:spChg chg="add mod">
          <ac:chgData name="Yang Zhen SGH CDAY223" userId="58c6818a-3577-4ae3-8238-bcb4cc81b368" providerId="ADAL" clId="{354A6CE5-210F-4377-AAE3-BB89AB9DF7D2}" dt="2025-09-19T08:25:25.416" v="25" actId="14100"/>
          <ac:spMkLst>
            <pc:docMk/>
            <pc:sldMk cId="3286879120" sldId="497"/>
            <ac:spMk id="8" creationId="{7D862718-7932-3AA2-FAB8-AE36175256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7BE1F-474D-4161-8D2D-F5EDD5AA86EE}" type="datetimeFigureOut">
              <a:rPr lang="es-ES" smtClean="0"/>
              <a:t>19/09/2025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295B57-4DBB-43A7-ACC4-84A3FE05D7E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037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CF9E97-1127-828D-88E1-4B681CFD8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D0FFBC-B6C8-5F4F-7638-2CF7838B4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294E06-E9FC-7FF4-0F50-15521728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3FAF24C-1BC5-4E3F-2B5E-F19860362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7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2E291-280E-11F9-B71C-EDA7B6EF8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0A12B3-CFC8-92D2-5EA6-61A0D857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3F8317C-03DD-0ADC-2817-914DCDD18FB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74198" y="1073051"/>
            <a:ext cx="10043604" cy="375158"/>
          </a:xfr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7" name="Marcador de número de diapositiva 4">
            <a:extLst>
              <a:ext uri="{FF2B5EF4-FFF2-40B4-BE49-F238E27FC236}">
                <a16:creationId xmlns:a16="http://schemas.microsoft.com/office/drawing/2014/main" id="{E7B3DAF5-2821-C448-C38C-82FED070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Imagen 8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DCB2B21-899F-0632-01FB-A4C50C4381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4" y="199972"/>
            <a:ext cx="524296" cy="165153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4D132E1C-B2C0-7440-3D60-5567D7652B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6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11B31-6071-8EEC-4C3A-17E81840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3A87FB-683F-C50E-193E-909263281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39704-E298-90F0-CB9C-159EDA9F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FAD3A9-F283-4B52-8536-A16EF24FA5AA}" type="datetimeFigureOut">
              <a:rPr lang="es-ES" smtClean="0"/>
              <a:t>19/09/2025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47D0B6-D41E-1639-5FC7-72C60D63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05C87-B1EB-5065-BF18-71E00EA3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44A704B7-4645-9D99-1630-83AD3D1697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A6AA8-340C-00FB-5C08-6B34E915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7A81A8-FDD9-7A23-F523-A60B6D371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4198" y="1825625"/>
            <a:ext cx="4945602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E3AE30-418D-A13A-7C2F-A0848DA04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945602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34368C-48CE-6001-CAED-EE7757CA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FAD3A9-F283-4B52-8536-A16EF24FA5AA}" type="datetimeFigureOut">
              <a:rPr lang="es-ES" smtClean="0"/>
              <a:t>19/09/2025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F0BE83-53DE-82D7-B0C2-E95BC9CE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BF0E49-BF20-70C9-3840-642629D1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018E8818-B921-6B32-F472-70F703CC8A5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74198" y="1073051"/>
            <a:ext cx="10043604" cy="375158"/>
          </a:xfr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11E59C31-FC4C-250B-29C4-43B0D022CC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2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3E599C-C132-549B-8234-150221D7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4198" y="1681163"/>
            <a:ext cx="492337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5C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42E1EC-6DDE-1628-66FA-7AFAE3A6F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4198" y="2505075"/>
            <a:ext cx="492337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DE429F-D60D-F235-E2B0-4026119E8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94560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5CF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700188-1B16-EB52-7130-765512A03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9456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CF493F-9D46-1D6F-3C78-C11AC78B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FFBEEEF5-7529-597C-B96E-13C2E2D1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98" y="681038"/>
            <a:ext cx="10043604" cy="57959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114FF5E7-A685-B36D-6976-CF80727C145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74198" y="1073051"/>
            <a:ext cx="10043604" cy="375158"/>
          </a:xfr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F8A755A0-7C10-5EB5-08EA-5798945234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1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47C42-29AF-555E-06BC-6B4C4DC9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97CBDD-66F0-6BA5-0C39-401EA182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6AF9D1C-3F71-57AB-3243-4B6CDCAB902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074198" y="1073051"/>
            <a:ext cx="10043604" cy="375158"/>
          </a:xfrm>
        </p:spPr>
        <p:txBody>
          <a:bodyPr>
            <a:normAutofit/>
          </a:bodyPr>
          <a:lstStyle>
            <a:lvl1pPr marL="0" indent="0" algn="l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106B056A-3C94-306A-0028-E3D4869D1C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8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FCD379F-9EA7-1BBA-4FCD-DFE25502C4CD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5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3A4AE5-92A2-5A53-9A82-01C71E3F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9" name="Marcador de contenido 2" descr="Imagen que contiene dibujo, reloj&#10;&#10;Descripción generada automáticamente">
            <a:extLst>
              <a:ext uri="{FF2B5EF4-FFF2-40B4-BE49-F238E27FC236}">
                <a16:creationId xmlns:a16="http://schemas.microsoft.com/office/drawing/2014/main" id="{87319598-7615-60BB-7E61-0B145CA1F8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641" y="197963"/>
            <a:ext cx="524358" cy="168319"/>
          </a:xfrm>
          <a:prstGeom prst="rect">
            <a:avLst/>
          </a:prstGeom>
        </p:spPr>
      </p:pic>
      <p:pic>
        <p:nvPicPr>
          <p:cNvPr id="10" name="Imagen 18">
            <a:extLst>
              <a:ext uri="{FF2B5EF4-FFF2-40B4-BE49-F238E27FC236}">
                <a16:creationId xmlns:a16="http://schemas.microsoft.com/office/drawing/2014/main" id="{0019A943-F353-0C2F-CA1E-C20FB6E7D1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595" y="99985"/>
            <a:ext cx="469095" cy="47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5422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FCD379F-9EA7-1BBA-4FCD-DFE25502C4CD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3A4AE5-92A2-5A53-9A82-01C71E3F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53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731EBB4-BC26-6CCA-17EE-9041D5340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F39324F6-E503-89C0-1041-130D7A07F7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1563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6F985F1-DBED-D3B4-009D-855649492D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1" y="551089"/>
            <a:ext cx="2484631" cy="591342"/>
          </a:xfrm>
          <a:prstGeom prst="rect">
            <a:avLst/>
          </a:prstGeom>
        </p:spPr>
      </p:pic>
      <p:pic>
        <p:nvPicPr>
          <p:cNvPr id="6" name="Imagen 18">
            <a:extLst>
              <a:ext uri="{FF2B5EF4-FFF2-40B4-BE49-F238E27FC236}">
                <a16:creationId xmlns:a16="http://schemas.microsoft.com/office/drawing/2014/main" id="{D8F4BD3E-D82F-C138-CF14-9E588E7F73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5181" y="317849"/>
            <a:ext cx="1172261" cy="113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216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FDFE7-EA70-76DA-D578-7BF1EE81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98" y="457200"/>
            <a:ext cx="3697827" cy="1600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565681-025C-57BA-2822-A16DB8889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934614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75938C-DC06-DC75-FF13-5A11AA97B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4198" y="2057400"/>
            <a:ext cx="36978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EC0D00-84EB-8C64-9A8D-F59B7AA1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CAFC32FF-9EC2-0C0D-2116-1D2F129390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  <p:pic>
        <p:nvPicPr>
          <p:cNvPr id="6" name="Imagen 5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3DBF61DB-CE53-6D87-26D8-3E51119BC6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4" y="199972"/>
            <a:ext cx="524296" cy="1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2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0C3D3-A4AB-E436-D2C3-5C356DE0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98" y="457200"/>
            <a:ext cx="3697827" cy="1600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A21816-CDE3-B8A3-1697-F8B333819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93461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A4923F-7DB1-DE5E-19DB-F8424AD2B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4198" y="2057400"/>
            <a:ext cx="369782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E6A079-E377-932C-ED6A-7B2E53EA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6F93D6DB-B0D1-6395-6D9C-51D07E0E46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  <p:pic>
        <p:nvPicPr>
          <p:cNvPr id="6" name="Imagen 5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C917A697-C432-0DC4-57B1-2308EA236B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4" y="199972"/>
            <a:ext cx="524296" cy="1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95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BA8E6-6C2F-B5C5-7359-F14AB043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B649C2-7E57-006C-0699-FCB87BCEA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02B9DF-2D0C-0F19-0970-24822CB1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4" name="Imagen 3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D82EF4D8-1BCE-7E70-92AE-3FB27C9978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4" y="199972"/>
            <a:ext cx="524296" cy="165153"/>
          </a:xfrm>
          <a:prstGeom prst="rect">
            <a:avLst/>
          </a:prstGeom>
        </p:spPr>
      </p:pic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96E44623-9D30-1A52-BB12-B310846F2A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49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4296B1-78D3-B592-7180-36D5929AC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681037"/>
            <a:ext cx="2392902" cy="54959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48CC77-2166-F395-4BE4-B38690175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4198" y="681037"/>
            <a:ext cx="7498302" cy="54959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DC917C-10A5-0927-F934-9DFC4C04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2103-7939-4021-9110-725F18FC8A59}" type="slidenum">
              <a:rPr lang="es-ES" smtClean="0"/>
              <a:t>‹#›</a:t>
            </a:fld>
            <a:endParaRPr lang="es-ES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30325285-2457-441E-497A-AA8D3FBCB4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618" y="116043"/>
            <a:ext cx="469095" cy="469095"/>
          </a:xfrm>
          <a:prstGeom prst="rect">
            <a:avLst/>
          </a:prstGeom>
        </p:spPr>
      </p:pic>
      <p:pic>
        <p:nvPicPr>
          <p:cNvPr id="5" name="Imagen 4" descr="Imagen que contiene Logotipo&#10;&#10;Descripción generada automáticamente">
            <a:extLst>
              <a:ext uri="{FF2B5EF4-FFF2-40B4-BE49-F238E27FC236}">
                <a16:creationId xmlns:a16="http://schemas.microsoft.com/office/drawing/2014/main" id="{E1726757-2A9F-8ACB-B52E-AB0F8CB232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274" y="199972"/>
            <a:ext cx="524296" cy="1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1CA633-014D-7C2A-2301-39696BAD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98" y="681038"/>
            <a:ext cx="10043604" cy="579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1FEA9C-897B-0296-0434-64A63781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4198" y="1825625"/>
            <a:ext cx="100436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F8B1D-FF67-BADC-9199-FB84027B9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6526" y="999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00008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2DA2103-7939-4021-9110-725F18FC8A59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B9E1E-9FE1-423A-54DC-212B260F402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56975" y="63500"/>
            <a:ext cx="800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51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2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2800" b="1" kern="1200" smtClean="0">
          <a:solidFill>
            <a:srgbClr val="00008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rgbClr val="00008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00008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00008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00008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rgbClr val="00008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6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E0E8DDBE-8DA1-EA80-E4D2-CEF2FD41AF4D}"/>
              </a:ext>
            </a:extLst>
          </p:cNvPr>
          <p:cNvSpPr txBox="1">
            <a:spLocks/>
          </p:cNvSpPr>
          <p:nvPr/>
        </p:nvSpPr>
        <p:spPr>
          <a:xfrm>
            <a:off x="495300" y="3094925"/>
            <a:ext cx="11525250" cy="2431435"/>
          </a:xfrm>
          <a:prstGeom prst="rect">
            <a:avLst/>
          </a:prstGeom>
        </p:spPr>
        <p:txBody>
          <a:bodyPr wrap="square" anchor="b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2000" b="1" kern="1200">
                <a:solidFill>
                  <a:srgbClr val="005C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model for </a:t>
            </a:r>
            <a:r>
              <a:rPr lang="en-US" sz="4000" noProof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SoftStop</a:t>
            </a:r>
            <a:r>
              <a:rPr lang="en-US" sz="4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40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PRO24_0006_IBC&amp;EMB-RT for VSS</a:t>
            </a:r>
          </a:p>
          <a:p>
            <a:endParaRPr lang="en-US" sz="32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D77A5812-B5A4-8D25-3415-697CC9E3079D}"/>
              </a:ext>
            </a:extLst>
          </p:cNvPr>
          <p:cNvSpPr txBox="1">
            <a:spLocks/>
          </p:cNvSpPr>
          <p:nvPr/>
        </p:nvSpPr>
        <p:spPr>
          <a:xfrm>
            <a:off x="1076325" y="5886450"/>
            <a:ext cx="9404103" cy="352425"/>
          </a:xfrm>
          <a:prstGeom prst="rect">
            <a:avLst/>
          </a:prstGeom>
        </p:spPr>
        <p:txBody>
          <a:bodyPr anchor="t"/>
          <a:lstStyle>
            <a:defPPr>
              <a:defRPr lang="es-ES"/>
            </a:defPPr>
            <a:lvl1pPr marL="0" algn="l" defTabSz="914400" rtl="0" eaLnBrk="1" latinLnBrk="0" hangingPunct="1">
              <a:defRPr sz="2000" b="1" kern="1200">
                <a:solidFill>
                  <a:srgbClr val="005C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 2025</a:t>
            </a:r>
          </a:p>
        </p:txBody>
      </p:sp>
    </p:spTree>
    <p:extLst>
      <p:ext uri="{BB962C8B-B14F-4D97-AF65-F5344CB8AC3E}">
        <p14:creationId xmlns:p14="http://schemas.microsoft.com/office/powerpoint/2010/main" val="135166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012B-47A3-1A99-ED3C-66C92565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493D2-BDAC-E7D0-A811-0DAF5B59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457" y="262014"/>
            <a:ext cx="10043604" cy="579592"/>
          </a:xfrm>
        </p:spPr>
        <p:txBody>
          <a:bodyPr>
            <a:noAutofit/>
          </a:bodyPr>
          <a:lstStyle/>
          <a:p>
            <a:r>
              <a:rPr lang="en-US" noProof="0">
                <a:solidFill>
                  <a:schemeClr val="tx2"/>
                </a:solidFill>
              </a:rPr>
              <a:t>Simulink Simulation Model</a:t>
            </a:r>
            <a:endParaRPr lang="en-US" noProof="0" dirty="0"/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90702D7C-0286-BFD3-BACB-FF644F5D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901F3-B144-CBEE-1AF9-582460DD6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1" y="1169581"/>
            <a:ext cx="11417098" cy="46676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2F798BF-BA45-2E02-6D8A-B97E62606033}"/>
              </a:ext>
            </a:extLst>
          </p:cNvPr>
          <p:cNvSpPr/>
          <p:nvPr/>
        </p:nvSpPr>
        <p:spPr>
          <a:xfrm>
            <a:off x="268083" y="1814051"/>
            <a:ext cx="2553776" cy="415413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3F3BD-A149-6246-6A99-B91DEB7DDB4D}"/>
              </a:ext>
            </a:extLst>
          </p:cNvPr>
          <p:cNvSpPr/>
          <p:nvPr/>
        </p:nvSpPr>
        <p:spPr>
          <a:xfrm>
            <a:off x="3075193" y="1814051"/>
            <a:ext cx="3276446" cy="415413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0E2C0A-AE21-A25E-883A-C9C893345E10}"/>
              </a:ext>
            </a:extLst>
          </p:cNvPr>
          <p:cNvSpPr/>
          <p:nvPr/>
        </p:nvSpPr>
        <p:spPr>
          <a:xfrm>
            <a:off x="6471007" y="1814051"/>
            <a:ext cx="2269870" cy="4154129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0D697E-09D6-346E-CD5E-C13C1827DF7C}"/>
              </a:ext>
            </a:extLst>
          </p:cNvPr>
          <p:cNvSpPr txBox="1"/>
          <p:nvPr/>
        </p:nvSpPr>
        <p:spPr>
          <a:xfrm>
            <a:off x="6656932" y="5986544"/>
            <a:ext cx="1898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Simplified</a:t>
            </a:r>
            <a:r>
              <a:rPr lang="es-ES" dirty="0"/>
              <a:t> </a:t>
            </a:r>
            <a:r>
              <a:rPr lang="es-ES" dirty="0" err="1"/>
              <a:t>Vehicle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Dynamic </a:t>
            </a:r>
            <a:r>
              <a:rPr lang="es-ES" dirty="0" err="1"/>
              <a:t>model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C96A4-C9D5-9D1F-FE9A-0DF91F730D75}"/>
              </a:ext>
            </a:extLst>
          </p:cNvPr>
          <p:cNvSpPr txBox="1"/>
          <p:nvPr/>
        </p:nvSpPr>
        <p:spPr>
          <a:xfrm>
            <a:off x="3347314" y="5986544"/>
            <a:ext cx="2656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Pitch Reference </a:t>
            </a:r>
            <a:r>
              <a:rPr lang="es-ES" dirty="0" err="1"/>
              <a:t>Generator</a:t>
            </a:r>
            <a:endParaRPr lang="es-ES" dirty="0"/>
          </a:p>
          <a:p>
            <a:pPr algn="ctr"/>
            <a:r>
              <a:rPr lang="es-ES" dirty="0"/>
              <a:t>+</a:t>
            </a:r>
          </a:p>
          <a:p>
            <a:pPr algn="ctr"/>
            <a:r>
              <a:rPr lang="es-ES" dirty="0" err="1"/>
              <a:t>Controller</a:t>
            </a:r>
            <a:r>
              <a:rPr lang="es-ES" dirty="0"/>
              <a:t> (FB and FF)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F1906-AD4F-B017-EEFA-BDF4ECC79F0E}"/>
              </a:ext>
            </a:extLst>
          </p:cNvPr>
          <p:cNvSpPr txBox="1"/>
          <p:nvPr/>
        </p:nvSpPr>
        <p:spPr>
          <a:xfrm>
            <a:off x="367440" y="5968180"/>
            <a:ext cx="22519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Input Data</a:t>
            </a:r>
          </a:p>
          <a:p>
            <a:pPr algn="ctr"/>
            <a:r>
              <a:rPr lang="es-ES" dirty="0"/>
              <a:t>+</a:t>
            </a:r>
          </a:p>
          <a:p>
            <a:pPr algn="ctr"/>
            <a:r>
              <a:rPr lang="es-ES" dirty="0" err="1"/>
              <a:t>Controller</a:t>
            </a:r>
            <a:r>
              <a:rPr lang="es-ES" dirty="0"/>
              <a:t> </a:t>
            </a:r>
            <a:r>
              <a:rPr lang="es-ES" dirty="0" err="1"/>
              <a:t>parameters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6BC6AD-3D62-B0FD-EDD9-213A81D67B26}"/>
              </a:ext>
            </a:extLst>
          </p:cNvPr>
          <p:cNvSpPr txBox="1"/>
          <p:nvPr/>
        </p:nvSpPr>
        <p:spPr>
          <a:xfrm>
            <a:off x="191695" y="844451"/>
            <a:ext cx="11028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The Simulink model provides a detailed representation of the modeling and control for </a:t>
            </a:r>
            <a:r>
              <a:rPr lang="en-US" sz="1600" dirty="0" err="1"/>
              <a:t>SoftStop</a:t>
            </a:r>
            <a:r>
              <a:rPr lang="en-US" sz="1600" dirty="0"/>
              <a:t>. It includes both the detailed controller and the simplified model of the vehicle dynamics. The simulation model can be decomposed in 3 main blocks:</a:t>
            </a:r>
          </a:p>
          <a:p>
            <a:pPr algn="just"/>
            <a:endParaRPr lang="en-US" sz="1600" noProof="0" dirty="0">
              <a:solidFill>
                <a:srgbClr val="0000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36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21610-E059-05F0-8BF3-4523814B7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E3E97-8D99-E318-7D78-80A963B8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457" y="262014"/>
            <a:ext cx="10043604" cy="579592"/>
          </a:xfrm>
        </p:spPr>
        <p:txBody>
          <a:bodyPr>
            <a:noAutofit/>
          </a:bodyPr>
          <a:lstStyle/>
          <a:p>
            <a:r>
              <a:rPr lang="en-US" noProof="0" dirty="0">
                <a:solidFill>
                  <a:schemeClr val="tx2"/>
                </a:solidFill>
              </a:rPr>
              <a:t>Input Data + Control parameters</a:t>
            </a:r>
            <a:endParaRPr lang="en-US" noProof="0" dirty="0"/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A43C4151-7D55-91A4-0ABF-6FDDA35D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D2233-7331-FDA9-25CC-00C594FE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886"/>
          <a:stretch>
            <a:fillRect/>
          </a:stretch>
        </p:blipFill>
        <p:spPr>
          <a:xfrm>
            <a:off x="6246095" y="841606"/>
            <a:ext cx="4947473" cy="3081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8D32B-8088-FDD3-3018-C54A3043F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95" y="4531612"/>
            <a:ext cx="2704004" cy="232638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83A2B3-9E7E-B146-03AE-00DDF7249618}"/>
              </a:ext>
            </a:extLst>
          </p:cNvPr>
          <p:cNvCxnSpPr/>
          <p:nvPr/>
        </p:nvCxnSpPr>
        <p:spPr>
          <a:xfrm>
            <a:off x="6866117" y="3997841"/>
            <a:ext cx="0" cy="446567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C1B5BB0-3204-EA08-0FB5-88A4907BD0B9}"/>
              </a:ext>
            </a:extLst>
          </p:cNvPr>
          <p:cNvSpPr/>
          <p:nvPr/>
        </p:nvSpPr>
        <p:spPr>
          <a:xfrm>
            <a:off x="6296259" y="5555227"/>
            <a:ext cx="3156155" cy="117323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65C36F-F254-195C-2E14-8BFEEA58E4EB}"/>
              </a:ext>
            </a:extLst>
          </p:cNvPr>
          <p:cNvSpPr/>
          <p:nvPr/>
        </p:nvSpPr>
        <p:spPr>
          <a:xfrm>
            <a:off x="6246095" y="698090"/>
            <a:ext cx="4947473" cy="6059925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ED61B-CCC2-D79E-5788-6BBDDDC2B184}"/>
              </a:ext>
            </a:extLst>
          </p:cNvPr>
          <p:cNvSpPr txBox="1"/>
          <p:nvPr/>
        </p:nvSpPr>
        <p:spPr>
          <a:xfrm>
            <a:off x="191695" y="1120676"/>
            <a:ext cx="590430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The file initializes the model parameters.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It primarily contains the vehicle parameters and the matrices that define the state-space representation of the simplified vehicle model.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The behavior of the controller and the reference generation can be adjusted by modifying the parameters: </a:t>
            </a:r>
            <a:r>
              <a:rPr lang="en-US" sz="1600" b="1" dirty="0"/>
              <a:t>P, I, D, and N</a:t>
            </a:r>
            <a:r>
              <a:rPr lang="en-US" sz="1600" dirty="0"/>
              <a:t> for feedback control, and </a:t>
            </a:r>
            <a:r>
              <a:rPr lang="en-US" sz="1600" b="1" dirty="0"/>
              <a:t>k1</a:t>
            </a:r>
            <a:r>
              <a:rPr lang="en-US" sz="1600" dirty="0"/>
              <a:t> and </a:t>
            </a:r>
            <a:r>
              <a:rPr lang="en-US" sz="1600" b="1" dirty="0"/>
              <a:t>k2</a:t>
            </a:r>
            <a:r>
              <a:rPr lang="en-US" sz="1600" dirty="0"/>
              <a:t> for reference generation.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The default values correspond to the nominal values used for the FMU tests in ADAMS.</a:t>
            </a:r>
          </a:p>
          <a:p>
            <a:pPr algn="just"/>
            <a:endParaRPr lang="en-US" sz="1600" noProof="0" dirty="0">
              <a:solidFill>
                <a:srgbClr val="000087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07122A-9600-72F3-25E2-3CA294EEDC8C}"/>
              </a:ext>
            </a:extLst>
          </p:cNvPr>
          <p:cNvCxnSpPr>
            <a:cxnSpLocks/>
          </p:cNvCxnSpPr>
          <p:nvPr/>
        </p:nvCxnSpPr>
        <p:spPr>
          <a:xfrm>
            <a:off x="3802743" y="3429000"/>
            <a:ext cx="2293257" cy="2308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91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E8BD-0CF9-7AE8-4AB3-2F1017D0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95C56233-BDB8-14E7-2787-8CBD22D7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B9D3C9A6-8545-E1CE-DAEE-E42F6A217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36" y="1428262"/>
            <a:ext cx="7108637" cy="16219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3CEB01-DDA1-638F-582E-53FB726D5276}"/>
              </a:ext>
            </a:extLst>
          </p:cNvPr>
          <p:cNvSpPr/>
          <p:nvPr/>
        </p:nvSpPr>
        <p:spPr>
          <a:xfrm>
            <a:off x="3967860" y="2740289"/>
            <a:ext cx="854642" cy="3262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E8E87EE-5DFC-44E4-AF75-0E7787E3178D}"/>
              </a:ext>
            </a:extLst>
          </p:cNvPr>
          <p:cNvSpPr/>
          <p:nvPr/>
        </p:nvSpPr>
        <p:spPr>
          <a:xfrm>
            <a:off x="5885371" y="1361631"/>
            <a:ext cx="3942133" cy="1769231"/>
          </a:xfrm>
          <a:prstGeom prst="rect">
            <a:avLst/>
          </a:prstGeom>
          <a:solidFill>
            <a:srgbClr val="E993AE">
              <a:alpha val="2705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E95076C-8CFE-72D8-BA67-0A3D8263ABCF}"/>
              </a:ext>
            </a:extLst>
          </p:cNvPr>
          <p:cNvSpPr txBox="1">
            <a:spLocks/>
          </p:cNvSpPr>
          <p:nvPr/>
        </p:nvSpPr>
        <p:spPr>
          <a:xfrm>
            <a:off x="1274457" y="262014"/>
            <a:ext cx="10043604" cy="579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smtClean="0">
                <a:solidFill>
                  <a:srgbClr val="00008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Pitch Reference </a:t>
            </a:r>
            <a:r>
              <a:rPr lang="es-ES" dirty="0" err="1"/>
              <a:t>Generator</a:t>
            </a:r>
            <a:r>
              <a:rPr lang="es-ES" dirty="0"/>
              <a:t> + </a:t>
            </a:r>
            <a:r>
              <a:rPr lang="es-ES" dirty="0" err="1"/>
              <a:t>Controller</a:t>
            </a:r>
            <a:r>
              <a:rPr lang="es-ES" dirty="0"/>
              <a:t> (FB and FF)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DBA89-9DB1-1CCC-956B-83021BEB3738}"/>
              </a:ext>
            </a:extLst>
          </p:cNvPr>
          <p:cNvSpPr txBox="1"/>
          <p:nvPr/>
        </p:nvSpPr>
        <p:spPr>
          <a:xfrm>
            <a:off x="217983" y="808910"/>
            <a:ext cx="986670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controller follows the same input/output structure as the tested FMUs. Based on the pitch reference generation and the controller parameters, it takes a deceleration command as input to generate a pitch reference and a force distribution according to the controller parameters.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It supports the same modes of operation: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Feedback: on/off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Rear axle: in-wheel or on-board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Front axle: in-wheel or on-board</a:t>
            </a:r>
          </a:p>
          <a:p>
            <a:pPr algn="just"/>
            <a:endParaRPr lang="en-US" sz="1600" noProof="0" dirty="0">
              <a:solidFill>
                <a:srgbClr val="000087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3F12A6-981A-F62B-BA24-02BCD2B98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24677"/>
              </p:ext>
            </p:extLst>
          </p:nvPr>
        </p:nvGraphicFramePr>
        <p:xfrm>
          <a:off x="6961986" y="4602945"/>
          <a:ext cx="3117929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377">
                  <a:extLst>
                    <a:ext uri="{9D8B030D-6E8A-4147-A177-3AD203B41FA5}">
                      <a16:colId xmlns:a16="http://schemas.microsoft.com/office/drawing/2014/main" val="3867820697"/>
                    </a:ext>
                  </a:extLst>
                </a:gridCol>
                <a:gridCol w="1101863">
                  <a:extLst>
                    <a:ext uri="{9D8B030D-6E8A-4147-A177-3AD203B41FA5}">
                      <a16:colId xmlns:a16="http://schemas.microsoft.com/office/drawing/2014/main" val="1652726281"/>
                    </a:ext>
                  </a:extLst>
                </a:gridCol>
                <a:gridCol w="1058689">
                  <a:extLst>
                    <a:ext uri="{9D8B030D-6E8A-4147-A177-3AD203B41FA5}">
                      <a16:colId xmlns:a16="http://schemas.microsoft.com/office/drawing/2014/main" val="416369728"/>
                    </a:ext>
                  </a:extLst>
                </a:gridCol>
              </a:tblGrid>
              <a:tr h="231979"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On-Board 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On-Board Rear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Feedback Enabled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46728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737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8214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7652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120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14499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74700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41937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noProof="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95948"/>
                  </a:ext>
                </a:extLst>
              </a:tr>
            </a:tbl>
          </a:graphicData>
        </a:graphic>
      </p:graphicFrame>
      <p:sp>
        <p:nvSpPr>
          <p:cNvPr id="9" name="Right Brace 8">
            <a:extLst>
              <a:ext uri="{FF2B5EF4-FFF2-40B4-BE49-F238E27FC236}">
                <a16:creationId xmlns:a16="http://schemas.microsoft.com/office/drawing/2014/main" id="{6AC5D0A4-4FD7-66C1-4A4A-00263471A224}"/>
              </a:ext>
            </a:extLst>
          </p:cNvPr>
          <p:cNvSpPr/>
          <p:nvPr/>
        </p:nvSpPr>
        <p:spPr>
          <a:xfrm>
            <a:off x="10170161" y="5153428"/>
            <a:ext cx="308559" cy="7863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90B5F-04AA-0719-9793-85F9C0D32818}"/>
              </a:ext>
            </a:extLst>
          </p:cNvPr>
          <p:cNvSpPr txBox="1"/>
          <p:nvPr/>
        </p:nvSpPr>
        <p:spPr>
          <a:xfrm>
            <a:off x="10436184" y="5401982"/>
            <a:ext cx="1466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Feedforward only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F644C-FC5E-E83F-2C8D-636CE3382C62}"/>
              </a:ext>
            </a:extLst>
          </p:cNvPr>
          <p:cNvSpPr txBox="1"/>
          <p:nvPr/>
        </p:nvSpPr>
        <p:spPr>
          <a:xfrm>
            <a:off x="10449312" y="6188541"/>
            <a:ext cx="1434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Feedforward + </a:t>
            </a:r>
          </a:p>
          <a:p>
            <a:r>
              <a:rPr lang="en-US" sz="1400" noProof="0" dirty="0"/>
              <a:t>Feedback control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D926B241-1C50-1A8D-7ECD-C0897D246AE9}"/>
              </a:ext>
            </a:extLst>
          </p:cNvPr>
          <p:cNvSpPr/>
          <p:nvPr/>
        </p:nvSpPr>
        <p:spPr>
          <a:xfrm>
            <a:off x="10179080" y="6065498"/>
            <a:ext cx="308559" cy="7863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D850ED-EDF9-B7CF-2BE3-36769E4EC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337122"/>
              </p:ext>
            </p:extLst>
          </p:nvPr>
        </p:nvGraphicFramePr>
        <p:xfrm>
          <a:off x="191695" y="3144143"/>
          <a:ext cx="4880864" cy="3567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7375">
                  <a:extLst>
                    <a:ext uri="{9D8B030D-6E8A-4147-A177-3AD203B41FA5}">
                      <a16:colId xmlns:a16="http://schemas.microsoft.com/office/drawing/2014/main" val="3867820697"/>
                    </a:ext>
                  </a:extLst>
                </a:gridCol>
                <a:gridCol w="3183489">
                  <a:extLst>
                    <a:ext uri="{9D8B030D-6E8A-4147-A177-3AD203B41FA5}">
                      <a16:colId xmlns:a16="http://schemas.microsoft.com/office/drawing/2014/main" val="1652726281"/>
                    </a:ext>
                  </a:extLst>
                </a:gridCol>
              </a:tblGrid>
              <a:tr h="275049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Input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467282"/>
                  </a:ext>
                </a:extLst>
              </a:tr>
              <a:tr h="340774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Enable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Activate the control system. When false, the output torques are all 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73714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Accel Longitudinal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Desired longitudinal acceleration of the vehicle.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21402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s-ES" sz="1100" b="1" noProof="0" dirty="0" err="1"/>
                        <a:t>PitchSS</a:t>
                      </a:r>
                      <a:r>
                        <a:rPr lang="es-ES" sz="1100" b="1" noProof="0" dirty="0"/>
                        <a:t> k1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/>
                        <a:t>Gain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to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adjust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stationary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value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pitch </a:t>
                      </a:r>
                      <a:r>
                        <a:rPr lang="es-ES" sz="1100" noProof="0" dirty="0" err="1"/>
                        <a:t>generator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733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s-ES" sz="1100" b="1" noProof="0" dirty="0" err="1"/>
                        <a:t>ResponseTime</a:t>
                      </a:r>
                      <a:r>
                        <a:rPr lang="es-ES" sz="1100" b="1" noProof="0" dirty="0"/>
                        <a:t> k2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/>
                        <a:t>Gain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to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adjust</a:t>
                      </a:r>
                      <a:r>
                        <a:rPr lang="es-ES" sz="1100" noProof="0" dirty="0"/>
                        <a:t> time response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pitch </a:t>
                      </a:r>
                      <a:r>
                        <a:rPr lang="es-ES" sz="1100" noProof="0" dirty="0" err="1"/>
                        <a:t>generator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257782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Enable On-Board Front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Enables on-board braking on the front axle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765296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Enable On-Board Rear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Enables on-board braking on the rear axle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12036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Feedback Enable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Enables the feedback 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144994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n-US" sz="1100" b="1" noProof="0" dirty="0"/>
                        <a:t>Theta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Actual pitch angle from vehicle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470021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s-ES" sz="1100" b="1" noProof="0" dirty="0" err="1"/>
                        <a:t>Proportional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/>
                        <a:t>Gain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proportional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component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Feedback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Ctr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19372"/>
                  </a:ext>
                </a:extLst>
              </a:tr>
              <a:tr h="206898">
                <a:tc>
                  <a:txBody>
                    <a:bodyPr/>
                    <a:lstStyle/>
                    <a:p>
                      <a:r>
                        <a:rPr lang="es-ES" sz="1100" b="1" noProof="0" dirty="0"/>
                        <a:t>Integral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noProof="0" dirty="0" err="1"/>
                        <a:t>Gain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integral </a:t>
                      </a:r>
                      <a:r>
                        <a:rPr lang="es-ES" sz="1100" noProof="0" dirty="0" err="1"/>
                        <a:t>component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Feedback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Ctr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495948"/>
                  </a:ext>
                </a:extLst>
              </a:tr>
              <a:tr h="227720">
                <a:tc>
                  <a:txBody>
                    <a:bodyPr/>
                    <a:lstStyle/>
                    <a:p>
                      <a:r>
                        <a:rPr lang="es-ES" sz="1100" b="1" noProof="0" dirty="0"/>
                        <a:t>Derivative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noProof="0" dirty="0" err="1"/>
                        <a:t>Gain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derivative </a:t>
                      </a:r>
                      <a:r>
                        <a:rPr lang="es-ES" sz="1100" noProof="0" dirty="0" err="1"/>
                        <a:t>component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Feedback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Ctr</a:t>
                      </a:r>
                      <a:r>
                        <a:rPr lang="es-ES" sz="1100" noProof="0" dirty="0"/>
                        <a:t> 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64565"/>
                  </a:ext>
                </a:extLst>
              </a:tr>
              <a:tr h="275049">
                <a:tc>
                  <a:txBody>
                    <a:bodyPr/>
                    <a:lstStyle/>
                    <a:p>
                      <a:r>
                        <a:rPr lang="es-ES" sz="1100" b="1" noProof="0" dirty="0" err="1"/>
                        <a:t>FilterCoefficient</a:t>
                      </a:r>
                      <a:endParaRPr lang="en-US" sz="11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noProof="0" dirty="0" err="1"/>
                        <a:t>Filter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coeficient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for</a:t>
                      </a:r>
                      <a:r>
                        <a:rPr lang="es-ES" sz="1100" noProof="0" dirty="0"/>
                        <a:t> derivative </a:t>
                      </a:r>
                      <a:r>
                        <a:rPr lang="es-ES" sz="1100" noProof="0" dirty="0" err="1"/>
                        <a:t>of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Feedback</a:t>
                      </a:r>
                      <a:r>
                        <a:rPr lang="es-ES" sz="1100" noProof="0" dirty="0"/>
                        <a:t> </a:t>
                      </a:r>
                      <a:r>
                        <a:rPr lang="es-ES" sz="1100" noProof="0" dirty="0" err="1"/>
                        <a:t>Ctr</a:t>
                      </a:r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782733"/>
                  </a:ext>
                </a:extLst>
              </a:tr>
            </a:tbl>
          </a:graphicData>
        </a:graphic>
      </p:graphicFrame>
      <p:sp>
        <p:nvSpPr>
          <p:cNvPr id="14" name="Right Brace 13">
            <a:extLst>
              <a:ext uri="{FF2B5EF4-FFF2-40B4-BE49-F238E27FC236}">
                <a16:creationId xmlns:a16="http://schemas.microsoft.com/office/drawing/2014/main" id="{F6038F31-F6AD-1865-EC63-4C2A915D54D3}"/>
              </a:ext>
            </a:extLst>
          </p:cNvPr>
          <p:cNvSpPr/>
          <p:nvPr/>
        </p:nvSpPr>
        <p:spPr>
          <a:xfrm>
            <a:off x="5208009" y="4638034"/>
            <a:ext cx="434522" cy="738664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FE3B6-B0E4-191F-F6AD-BA99B20CAED2}"/>
              </a:ext>
            </a:extLst>
          </p:cNvPr>
          <p:cNvSpPr txBox="1"/>
          <p:nvPr/>
        </p:nvSpPr>
        <p:spPr>
          <a:xfrm>
            <a:off x="5620183" y="4773250"/>
            <a:ext cx="129150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/>
              <a:t>Control mode </a:t>
            </a:r>
          </a:p>
          <a:p>
            <a:pPr algn="ctr"/>
            <a:r>
              <a:rPr lang="en-US" sz="1400" noProof="0" dirty="0"/>
              <a:t>selector</a:t>
            </a:r>
          </a:p>
          <a:p>
            <a:endParaRPr lang="en-US" sz="14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0E83C8-9B08-3BBF-49D0-2ADB1DB9CB87}"/>
              </a:ext>
            </a:extLst>
          </p:cNvPr>
          <p:cNvSpPr txBox="1"/>
          <p:nvPr/>
        </p:nvSpPr>
        <p:spPr>
          <a:xfrm>
            <a:off x="5072559" y="5339352"/>
            <a:ext cx="1738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Sensor measurement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015AE7C-0CC8-53F8-8C75-64ED1F84B2A1}"/>
              </a:ext>
            </a:extLst>
          </p:cNvPr>
          <p:cNvSpPr/>
          <p:nvPr/>
        </p:nvSpPr>
        <p:spPr>
          <a:xfrm>
            <a:off x="5151336" y="5665709"/>
            <a:ext cx="434522" cy="1013996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CE48B6-2E28-5232-1BF9-A2856984B1DD}"/>
              </a:ext>
            </a:extLst>
          </p:cNvPr>
          <p:cNvSpPr txBox="1"/>
          <p:nvPr/>
        </p:nvSpPr>
        <p:spPr>
          <a:xfrm>
            <a:off x="5642531" y="5823007"/>
            <a:ext cx="10731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Adjustable</a:t>
            </a:r>
          </a:p>
          <a:p>
            <a:pPr algn="ctr"/>
            <a:r>
              <a:rPr lang="en-US" sz="1400" noProof="0" dirty="0"/>
              <a:t>PID</a:t>
            </a:r>
          </a:p>
          <a:p>
            <a:pPr algn="ctr"/>
            <a:r>
              <a:rPr lang="en-US" sz="1400" dirty="0"/>
              <a:t>Parameters</a:t>
            </a:r>
            <a:endParaRPr lang="en-US" sz="1400" noProof="0" dirty="0"/>
          </a:p>
          <a:p>
            <a:endParaRPr lang="en-US" sz="1400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689ACA-AA95-0A32-BF48-6D30E75DDF71}"/>
              </a:ext>
            </a:extLst>
          </p:cNvPr>
          <p:cNvSpPr txBox="1"/>
          <p:nvPr/>
        </p:nvSpPr>
        <p:spPr>
          <a:xfrm>
            <a:off x="5441435" y="4054826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noProof="0" dirty="0"/>
              <a:t>Pitch Ref Generator </a:t>
            </a:r>
          </a:p>
          <a:p>
            <a:pPr algn="ctr"/>
            <a:r>
              <a:rPr lang="en-US" sz="1400" noProof="0" dirty="0"/>
              <a:t>Parameters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59516BA9-709B-080F-68E9-8B5CD617A4EC}"/>
              </a:ext>
            </a:extLst>
          </p:cNvPr>
          <p:cNvSpPr/>
          <p:nvPr/>
        </p:nvSpPr>
        <p:spPr>
          <a:xfrm>
            <a:off x="5185661" y="4119979"/>
            <a:ext cx="434522" cy="471348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3">
                <a:extLst>
                  <a:ext uri="{FF2B5EF4-FFF2-40B4-BE49-F238E27FC236}">
                    <a16:creationId xmlns:a16="http://schemas.microsoft.com/office/drawing/2014/main" id="{9F75B603-0BBF-5365-8952-E9A867832972}"/>
                  </a:ext>
                </a:extLst>
              </p:cNvPr>
              <p:cNvSpPr txBox="1"/>
              <p:nvPr/>
            </p:nvSpPr>
            <p:spPr>
              <a:xfrm>
                <a:off x="9113727" y="3228429"/>
                <a:ext cx="3087699" cy="470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𝑏𝑅</m:t>
                          </m:r>
                        </m:sub>
                      </m:sSub>
                      <m:r>
                        <a:rPr lang="es-E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_tradnl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sz="1100" dirty="0"/>
              </a:p>
            </p:txBody>
          </p:sp>
        </mc:Choice>
        <mc:Fallback xmlns="">
          <p:sp>
            <p:nvSpPr>
              <p:cNvPr id="3" name="CuadroTexto 23">
                <a:extLst>
                  <a:ext uri="{FF2B5EF4-FFF2-40B4-BE49-F238E27FC236}">
                    <a16:creationId xmlns:a16="http://schemas.microsoft.com/office/drawing/2014/main" id="{9F75B603-0BBF-5365-8952-E9A86783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727" y="3228429"/>
                <a:ext cx="3087699" cy="470450"/>
              </a:xfrm>
              <a:prstGeom prst="rect">
                <a:avLst/>
              </a:prstGeom>
              <a:blipFill>
                <a:blip r:embed="rId3"/>
                <a:stretch>
                  <a:fillRect r="-197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24">
                <a:extLst>
                  <a:ext uri="{FF2B5EF4-FFF2-40B4-BE49-F238E27FC236}">
                    <a16:creationId xmlns:a16="http://schemas.microsoft.com/office/drawing/2014/main" id="{CD332509-EA07-E481-4813-83793C42D9F2}"/>
                  </a:ext>
                </a:extLst>
              </p:cNvPr>
              <p:cNvSpPr txBox="1"/>
              <p:nvPr/>
            </p:nvSpPr>
            <p:spPr>
              <a:xfrm>
                <a:off x="9113728" y="3682806"/>
                <a:ext cx="3087699" cy="470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𝑏𝐹</m:t>
                          </m:r>
                        </m:sub>
                      </m:sSub>
                      <m:r>
                        <a:rPr lang="es-E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_tradnl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sz="1100" dirty="0"/>
              </a:p>
            </p:txBody>
          </p:sp>
        </mc:Choice>
        <mc:Fallback xmlns="">
          <p:sp>
            <p:nvSpPr>
              <p:cNvPr id="4" name="CuadroTexto 24">
                <a:extLst>
                  <a:ext uri="{FF2B5EF4-FFF2-40B4-BE49-F238E27FC236}">
                    <a16:creationId xmlns:a16="http://schemas.microsoft.com/office/drawing/2014/main" id="{CD332509-EA07-E481-4813-83793C42D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3728" y="3682806"/>
                <a:ext cx="3087699" cy="470450"/>
              </a:xfrm>
              <a:prstGeom prst="rect">
                <a:avLst/>
              </a:prstGeom>
              <a:blipFill>
                <a:blip r:embed="rId4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13E0118F-BE6B-4EB6-1ABA-2986E392E44B}"/>
              </a:ext>
            </a:extLst>
          </p:cNvPr>
          <p:cNvSpPr/>
          <p:nvPr/>
        </p:nvSpPr>
        <p:spPr>
          <a:xfrm>
            <a:off x="9130139" y="3210601"/>
            <a:ext cx="2926543" cy="9765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9F9C0E-38E0-EC63-5025-6765B583B05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220173" y="2155673"/>
            <a:ext cx="909966" cy="1543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31">
                <a:extLst>
                  <a:ext uri="{FF2B5EF4-FFF2-40B4-BE49-F238E27FC236}">
                    <a16:creationId xmlns:a16="http://schemas.microsoft.com/office/drawing/2014/main" id="{AA3E22E7-8B1F-FDDC-7245-3E370B92621B}"/>
                  </a:ext>
                </a:extLst>
              </p:cNvPr>
              <p:cNvSpPr txBox="1"/>
              <p:nvPr/>
            </p:nvSpPr>
            <p:spPr>
              <a:xfrm>
                <a:off x="9048902" y="4145968"/>
                <a:ext cx="2960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rgbClr val="C00000"/>
                    </a:solidFill>
                  </a:rPr>
                  <a:t>Feed-Forward control law: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E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noProof="0" dirty="0">
                    <a:solidFill>
                      <a:srgbClr val="C00000"/>
                    </a:solidFill>
                  </a:rPr>
                  <a:t>… defined in initialization script</a:t>
                </a:r>
              </a:p>
            </p:txBody>
          </p:sp>
        </mc:Choice>
        <mc:Fallback xmlns="">
          <p:sp>
            <p:nvSpPr>
              <p:cNvPr id="23" name="CuadroTexto 31">
                <a:extLst>
                  <a:ext uri="{FF2B5EF4-FFF2-40B4-BE49-F238E27FC236}">
                    <a16:creationId xmlns:a16="http://schemas.microsoft.com/office/drawing/2014/main" id="{AA3E22E7-8B1F-FDDC-7245-3E370B926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902" y="4145968"/>
                <a:ext cx="2960830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5676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90B0-631D-72E9-E7A7-249561F5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AC94AF75-BEEB-6D89-74C5-3F1D8EA0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536DC-8D76-B389-5838-ABDDC25C0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40"/>
          <a:stretch>
            <a:fillRect/>
          </a:stretch>
        </p:blipFill>
        <p:spPr>
          <a:xfrm>
            <a:off x="4872915" y="1057365"/>
            <a:ext cx="6865827" cy="4474756"/>
          </a:xfrm>
          <a:prstGeom prst="rect">
            <a:avLst/>
          </a:prstGeom>
        </p:spPr>
      </p:pic>
      <p:sp>
        <p:nvSpPr>
          <p:cNvPr id="8" name="CuadroTexto 31">
            <a:extLst>
              <a:ext uri="{FF2B5EF4-FFF2-40B4-BE49-F238E27FC236}">
                <a16:creationId xmlns:a16="http://schemas.microsoft.com/office/drawing/2014/main" id="{B907F691-F499-C8B7-5565-2BBA79F8C3B9}"/>
              </a:ext>
            </a:extLst>
          </p:cNvPr>
          <p:cNvSpPr txBox="1"/>
          <p:nvPr/>
        </p:nvSpPr>
        <p:spPr>
          <a:xfrm>
            <a:off x="7295924" y="4455865"/>
            <a:ext cx="1871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rgbClr val="C00000"/>
                </a:solidFill>
              </a:rPr>
              <a:t>PID Feedback </a:t>
            </a:r>
            <a:r>
              <a:rPr lang="en-US" sz="1200" dirty="0">
                <a:solidFill>
                  <a:srgbClr val="C00000"/>
                </a:solidFill>
              </a:rPr>
              <a:t>compensator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9" name="CuadroTexto 31">
            <a:extLst>
              <a:ext uri="{FF2B5EF4-FFF2-40B4-BE49-F238E27FC236}">
                <a16:creationId xmlns:a16="http://schemas.microsoft.com/office/drawing/2014/main" id="{3D22C7EF-D98C-A657-B759-AED6E8A39681}"/>
              </a:ext>
            </a:extLst>
          </p:cNvPr>
          <p:cNvSpPr txBox="1"/>
          <p:nvPr/>
        </p:nvSpPr>
        <p:spPr>
          <a:xfrm>
            <a:off x="9207548" y="3167390"/>
            <a:ext cx="1468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00000"/>
                </a:solidFill>
              </a:rPr>
              <a:t>Brake distribution FF</a:t>
            </a:r>
          </a:p>
        </p:txBody>
      </p:sp>
      <p:sp>
        <p:nvSpPr>
          <p:cNvPr id="10" name="CuadroTexto 31">
            <a:extLst>
              <a:ext uri="{FF2B5EF4-FFF2-40B4-BE49-F238E27FC236}">
                <a16:creationId xmlns:a16="http://schemas.microsoft.com/office/drawing/2014/main" id="{D4FB3CF4-76B4-9CF5-EF26-E4FC22198ECD}"/>
              </a:ext>
            </a:extLst>
          </p:cNvPr>
          <p:cNvSpPr txBox="1"/>
          <p:nvPr/>
        </p:nvSpPr>
        <p:spPr>
          <a:xfrm>
            <a:off x="6149856" y="850392"/>
            <a:ext cx="2673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00000"/>
                </a:solidFill>
              </a:rPr>
              <a:t>Pitch trajectory generation (polynomial)</a:t>
            </a:r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0F6979B8-9366-3854-631B-ECC1004C4720}"/>
              </a:ext>
            </a:extLst>
          </p:cNvPr>
          <p:cNvSpPr txBox="1"/>
          <p:nvPr/>
        </p:nvSpPr>
        <p:spPr>
          <a:xfrm>
            <a:off x="7256653" y="2059418"/>
            <a:ext cx="14670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 dirty="0">
                <a:solidFill>
                  <a:srgbClr val="C00000"/>
                </a:solidFill>
              </a:rPr>
              <a:t>Polynomial calculation</a:t>
            </a:r>
          </a:p>
        </p:txBody>
      </p:sp>
      <p:sp>
        <p:nvSpPr>
          <p:cNvPr id="12" name="CuadroTexto 31">
            <a:extLst>
              <a:ext uri="{FF2B5EF4-FFF2-40B4-BE49-F238E27FC236}">
                <a16:creationId xmlns:a16="http://schemas.microsoft.com/office/drawing/2014/main" id="{7A7BF447-217E-9C5B-8EA2-7FD895B79DF3}"/>
              </a:ext>
            </a:extLst>
          </p:cNvPr>
          <p:cNvSpPr txBox="1"/>
          <p:nvPr/>
        </p:nvSpPr>
        <p:spPr>
          <a:xfrm>
            <a:off x="8873125" y="2052292"/>
            <a:ext cx="1481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noProof="0" dirty="0">
                <a:solidFill>
                  <a:srgbClr val="C00000"/>
                </a:solidFill>
              </a:rPr>
              <a:t>Pitch signal generation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470EE-B63B-56F4-88C7-1376B6B26D99}"/>
              </a:ext>
            </a:extLst>
          </p:cNvPr>
          <p:cNvSpPr txBox="1"/>
          <p:nvPr/>
        </p:nvSpPr>
        <p:spPr>
          <a:xfrm>
            <a:off x="191695" y="1142974"/>
            <a:ext cx="474095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noProof="0" dirty="0"/>
              <a:t>The controller block is composed by the following main blocks:</a:t>
            </a:r>
          </a:p>
          <a:p>
            <a:pPr algn="just"/>
            <a:endParaRPr lang="en-US" sz="1400" noProof="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noProof="0" dirty="0">
                <a:solidFill>
                  <a:srgbClr val="000087"/>
                </a:solidFill>
              </a:rPr>
              <a:t>Pitch trajectory generation</a:t>
            </a:r>
            <a:r>
              <a:rPr lang="en-US" sz="1400" noProof="0" dirty="0">
                <a:solidFill>
                  <a:srgbClr val="000087"/>
                </a:solidFill>
              </a:rPr>
              <a:t>:	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87"/>
                </a:solidFill>
              </a:rPr>
              <a:t>Polynomial calculation:</a:t>
            </a:r>
            <a:r>
              <a:rPr lang="en-US" sz="1400" dirty="0">
                <a:solidFill>
                  <a:srgbClr val="000087"/>
                </a:solidFill>
              </a:rPr>
              <a:t> </a:t>
            </a:r>
            <a:r>
              <a:rPr lang="en-US" altLang="en-US" sz="1400" dirty="0"/>
              <a:t>Computes a smooth pitch trajectory polynomial based on k1, k2, and the desired deceleration. The polynomial is updated in real time in response to changes in the deceleration command .</a:t>
            </a:r>
            <a:endParaRPr lang="en-US" sz="1400" dirty="0">
              <a:solidFill>
                <a:srgbClr val="000087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b="1" noProof="0" dirty="0">
                <a:solidFill>
                  <a:srgbClr val="000087"/>
                </a:solidFill>
              </a:rPr>
              <a:t>Pitch signal generation: </a:t>
            </a:r>
            <a:r>
              <a:rPr lang="en-US" sz="1400" dirty="0"/>
              <a:t>Using the current polynomial, this module generates the corresponding pitch signals, including </a:t>
            </a:r>
            <a:r>
              <a:rPr lang="en-US" sz="1400" b="1" dirty="0"/>
              <a:t>pitch</a:t>
            </a:r>
            <a:r>
              <a:rPr lang="en-US" sz="1400" dirty="0"/>
              <a:t>, </a:t>
            </a:r>
            <a:r>
              <a:rPr lang="en-US" sz="1400" b="1" dirty="0"/>
              <a:t>pitch rate</a:t>
            </a:r>
            <a:r>
              <a:rPr lang="en-US" sz="1400" dirty="0"/>
              <a:t>, and </a:t>
            </a:r>
            <a:r>
              <a:rPr lang="en-US" sz="1400" b="1" dirty="0"/>
              <a:t>pitch acceleration.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87"/>
                </a:solidFill>
              </a:rPr>
              <a:t>PID Feedback compensator: </a:t>
            </a:r>
            <a:r>
              <a:rPr lang="en-US" sz="1400" dirty="0"/>
              <a:t>Computes the feedback component, based on the pitch tracking error.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noProof="0" dirty="0">
                <a:solidFill>
                  <a:srgbClr val="000087"/>
                </a:solidFill>
              </a:rPr>
              <a:t>Brake distribution FF: </a:t>
            </a:r>
            <a:r>
              <a:rPr lang="en-US" sz="1400" dirty="0"/>
              <a:t>First, </a:t>
            </a:r>
            <a:r>
              <a:rPr lang="en-US" sz="1400" u="sng" dirty="0">
                <a:solidFill>
                  <a:srgbClr val="FF0000"/>
                </a:solidFill>
              </a:rPr>
              <a:t>it computes the feedforward braking control based on the pitch and deceleration reference signals</a:t>
            </a:r>
            <a:r>
              <a:rPr lang="en-US" sz="1400" dirty="0"/>
              <a:t>. Then, depending on the selected mode of operation (in-wheel or on-board, with or without feedback), it adapts the control by adding feedback if enabled and distributing the braking torque to the outputs accordingly to the mode of operation.</a:t>
            </a:r>
            <a:endParaRPr lang="en-US" sz="1400" b="1" noProof="0" dirty="0">
              <a:solidFill>
                <a:srgbClr val="00008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23">
                <a:extLst>
                  <a:ext uri="{FF2B5EF4-FFF2-40B4-BE49-F238E27FC236}">
                    <a16:creationId xmlns:a16="http://schemas.microsoft.com/office/drawing/2014/main" id="{2080745D-024D-04D7-0DF0-B765CDADD6E2}"/>
                  </a:ext>
                </a:extLst>
              </p:cNvPr>
              <p:cNvSpPr txBox="1"/>
              <p:nvPr/>
            </p:nvSpPr>
            <p:spPr>
              <a:xfrm>
                <a:off x="8755908" y="5833188"/>
                <a:ext cx="3087699" cy="470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𝑏𝑅</m:t>
                          </m:r>
                        </m:sub>
                      </m:sSub>
                      <m:r>
                        <a:rPr lang="es-E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_tradnl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sz="1100" dirty="0"/>
              </a:p>
            </p:txBody>
          </p:sp>
        </mc:Choice>
        <mc:Fallback xmlns="">
          <p:sp>
            <p:nvSpPr>
              <p:cNvPr id="5" name="CuadroTexto 23">
                <a:extLst>
                  <a:ext uri="{FF2B5EF4-FFF2-40B4-BE49-F238E27FC236}">
                    <a16:creationId xmlns:a16="http://schemas.microsoft.com/office/drawing/2014/main" id="{2080745D-024D-04D7-0DF0-B765CDADD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908" y="5833188"/>
                <a:ext cx="3087699" cy="470450"/>
              </a:xfrm>
              <a:prstGeom prst="rect">
                <a:avLst/>
              </a:prstGeom>
              <a:blipFill>
                <a:blip r:embed="rId3"/>
                <a:stretch>
                  <a:fillRect r="-197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24">
                <a:extLst>
                  <a:ext uri="{FF2B5EF4-FFF2-40B4-BE49-F238E27FC236}">
                    <a16:creationId xmlns:a16="http://schemas.microsoft.com/office/drawing/2014/main" id="{F7EB0AF1-79B9-BA8E-FF9E-AD19C44A2614}"/>
                  </a:ext>
                </a:extLst>
              </p:cNvPr>
              <p:cNvSpPr txBox="1"/>
              <p:nvPr/>
            </p:nvSpPr>
            <p:spPr>
              <a:xfrm>
                <a:off x="8755909" y="6287565"/>
                <a:ext cx="3087699" cy="470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𝑏𝐹</m:t>
                          </m:r>
                        </m:sub>
                      </m:sSub>
                      <m:r>
                        <a:rPr lang="es-E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̈"/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̇"/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es-E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ES_tradnl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)−(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tan</m:t>
                          </m:r>
                          <m:sSub>
                            <m:sSub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ES" sz="1100" dirty="0"/>
              </a:p>
            </p:txBody>
          </p:sp>
        </mc:Choice>
        <mc:Fallback xmlns="">
          <p:sp>
            <p:nvSpPr>
              <p:cNvPr id="2" name="CuadroTexto 24">
                <a:extLst>
                  <a:ext uri="{FF2B5EF4-FFF2-40B4-BE49-F238E27FC236}">
                    <a16:creationId xmlns:a16="http://schemas.microsoft.com/office/drawing/2014/main" id="{F7EB0AF1-79B9-BA8E-FF9E-AD19C44A2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909" y="6287565"/>
                <a:ext cx="3087699" cy="470450"/>
              </a:xfrm>
              <a:prstGeom prst="rect">
                <a:avLst/>
              </a:prstGeom>
              <a:blipFill>
                <a:blip r:embed="rId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B51772E-9713-728E-C8F2-9EEF8B8572A5}"/>
              </a:ext>
            </a:extLst>
          </p:cNvPr>
          <p:cNvSpPr/>
          <p:nvPr/>
        </p:nvSpPr>
        <p:spPr>
          <a:xfrm>
            <a:off x="8772320" y="5815360"/>
            <a:ext cx="2926543" cy="97655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704DC5-ADA7-F10E-8D1C-7A08D7E57E8E}"/>
              </a:ext>
            </a:extLst>
          </p:cNvPr>
          <p:cNvCxnSpPr>
            <a:cxnSpLocks/>
          </p:cNvCxnSpPr>
          <p:nvPr/>
        </p:nvCxnSpPr>
        <p:spPr>
          <a:xfrm>
            <a:off x="4872915" y="4986779"/>
            <a:ext cx="3882992" cy="1536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31">
                <a:extLst>
                  <a:ext uri="{FF2B5EF4-FFF2-40B4-BE49-F238E27FC236}">
                    <a16:creationId xmlns:a16="http://schemas.microsoft.com/office/drawing/2014/main" id="{699367F9-F1EB-E95F-2BB2-8EF8265F4CC7}"/>
                  </a:ext>
                </a:extLst>
              </p:cNvPr>
              <p:cNvSpPr txBox="1"/>
              <p:nvPr/>
            </p:nvSpPr>
            <p:spPr>
              <a:xfrm>
                <a:off x="5635170" y="6333497"/>
                <a:ext cx="29608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0" dirty="0">
                    <a:solidFill>
                      <a:srgbClr val="C00000"/>
                    </a:solidFill>
                  </a:rPr>
                  <a:t>Feed-Forward control law: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s-ES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noProof="0" dirty="0">
                    <a:solidFill>
                      <a:srgbClr val="C00000"/>
                    </a:solidFill>
                  </a:rPr>
                  <a:t>… defined in initialization script</a:t>
                </a:r>
              </a:p>
            </p:txBody>
          </p:sp>
        </mc:Choice>
        <mc:Fallback xmlns="">
          <p:sp>
            <p:nvSpPr>
              <p:cNvPr id="20" name="CuadroTexto 31">
                <a:extLst>
                  <a:ext uri="{FF2B5EF4-FFF2-40B4-BE49-F238E27FC236}">
                    <a16:creationId xmlns:a16="http://schemas.microsoft.com/office/drawing/2014/main" id="{699367F9-F1EB-E95F-2BB2-8EF8265F4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170" y="6333497"/>
                <a:ext cx="2960830" cy="461665"/>
              </a:xfrm>
              <a:prstGeom prst="rect">
                <a:avLst/>
              </a:prstGeom>
              <a:blipFill>
                <a:blip r:embed="rId5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ítulo 1">
            <a:extLst>
              <a:ext uri="{FF2B5EF4-FFF2-40B4-BE49-F238E27FC236}">
                <a16:creationId xmlns:a16="http://schemas.microsoft.com/office/drawing/2014/main" id="{8BECD092-932D-C194-8B13-41E1B0292E9E}"/>
              </a:ext>
            </a:extLst>
          </p:cNvPr>
          <p:cNvSpPr txBox="1">
            <a:spLocks/>
          </p:cNvSpPr>
          <p:nvPr/>
        </p:nvSpPr>
        <p:spPr>
          <a:xfrm>
            <a:off x="1274457" y="262014"/>
            <a:ext cx="10043604" cy="5795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2800" b="1" kern="1200" smtClean="0">
                <a:solidFill>
                  <a:srgbClr val="00008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ES" dirty="0"/>
              <a:t>Pitch Reference </a:t>
            </a:r>
            <a:r>
              <a:rPr lang="es-ES" dirty="0" err="1"/>
              <a:t>Generator</a:t>
            </a:r>
            <a:r>
              <a:rPr lang="es-ES" dirty="0"/>
              <a:t> + </a:t>
            </a:r>
            <a:r>
              <a:rPr lang="es-ES" dirty="0" err="1"/>
              <a:t>Controller</a:t>
            </a:r>
            <a:r>
              <a:rPr lang="es-ES" dirty="0"/>
              <a:t> (FB and FF)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28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4EAB-4A77-0332-3579-8B161478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867B0-A7F0-87A6-BDF7-D9F27D99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457" y="262014"/>
            <a:ext cx="10043604" cy="579592"/>
          </a:xfrm>
        </p:spPr>
        <p:txBody>
          <a:bodyPr>
            <a:noAutofit/>
          </a:bodyPr>
          <a:lstStyle/>
          <a:p>
            <a:pPr algn="just"/>
            <a:r>
              <a:rPr lang="es-ES" dirty="0" err="1"/>
              <a:t>Simplified</a:t>
            </a:r>
            <a:r>
              <a:rPr lang="es-ES" dirty="0"/>
              <a:t> </a:t>
            </a:r>
            <a:r>
              <a:rPr lang="es-ES" dirty="0" err="1"/>
              <a:t>Vehicle</a:t>
            </a:r>
            <a:r>
              <a:rPr lang="es-ES" dirty="0"/>
              <a:t> Dynamic </a:t>
            </a:r>
            <a:r>
              <a:rPr lang="es-ES" dirty="0" err="1"/>
              <a:t>model</a:t>
            </a:r>
            <a:endParaRPr lang="en-US" dirty="0"/>
          </a:p>
        </p:txBody>
      </p:sp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B553001B-8EC7-F454-FA8B-432CFFE1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8C114-0911-FEAC-2EF8-E4E600064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85" t="11173" r="27695" b="21419"/>
          <a:stretch>
            <a:fillRect/>
          </a:stretch>
        </p:blipFill>
        <p:spPr>
          <a:xfrm>
            <a:off x="7696167" y="1279245"/>
            <a:ext cx="3823441" cy="5539728"/>
          </a:xfrm>
          <a:prstGeom prst="rect">
            <a:avLst/>
          </a:prstGeom>
        </p:spPr>
      </p:pic>
      <p:sp>
        <p:nvSpPr>
          <p:cNvPr id="54" name="CuadroTexto 3">
            <a:extLst>
              <a:ext uri="{FF2B5EF4-FFF2-40B4-BE49-F238E27FC236}">
                <a16:creationId xmlns:a16="http://schemas.microsoft.com/office/drawing/2014/main" id="{EF5BE7EE-19FF-D72D-A4E2-231B456FB0A7}"/>
              </a:ext>
            </a:extLst>
          </p:cNvPr>
          <p:cNvSpPr txBox="1"/>
          <p:nvPr/>
        </p:nvSpPr>
        <p:spPr>
          <a:xfrm>
            <a:off x="807879" y="1629514"/>
            <a:ext cx="6023727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u="sng" noProof="0" dirty="0"/>
              <a:t>Equations for pitch and heave dynamics of sprung mass</a:t>
            </a:r>
            <a:endParaRPr lang="en-US" sz="2000" u="sng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2">
                <a:extLst>
                  <a:ext uri="{FF2B5EF4-FFF2-40B4-BE49-F238E27FC236}">
                    <a16:creationId xmlns:a16="http://schemas.microsoft.com/office/drawing/2014/main" id="{23C686A0-BE20-E607-619E-A616654BB7A1}"/>
                  </a:ext>
                </a:extLst>
              </p:cNvPr>
              <p:cNvSpPr txBox="1"/>
              <p:nvPr/>
            </p:nvSpPr>
            <p:spPr>
              <a:xfrm>
                <a:off x="46586" y="2407667"/>
                <a:ext cx="7948982" cy="3841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𝐽</m:t>
                    </m:r>
                    <m:acc>
                      <m:accPr>
                        <m:chr m:val="̈"/>
                        <m:ctrlPr>
                          <a:rPr lang="en-US" sz="1200" i="1" noProof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noProof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𝑠𝑅</m:t>
                            </m:r>
                          </m:sub>
                        </m:sSub>
                        <m:sSup>
                          <m:sSup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𝑠𝐹</m:t>
                            </m:r>
                          </m:sub>
                        </m:sSub>
                        <m:sSup>
                          <m:sSup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200" i="1" noProof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𝑑𝑅</m:t>
                            </m:r>
                          </m:sub>
                        </m:sSub>
                        <m:sSup>
                          <m:sSup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𝑑𝐹</m:t>
                            </m:r>
                          </m:sub>
                        </m:sSub>
                        <m:sSup>
                          <m:sSup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acc>
                      <m:accPr>
                        <m:chr m:val="̇"/>
                        <m:ctrlPr>
                          <a:rPr lang="en-US" sz="12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noProof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𝑠𝑅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𝑠𝐹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200" b="0" i="1" noProof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2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200" b="0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acc>
                      <m:accPr>
                        <m:chr m:val="̇"/>
                        <m:ctrlPr>
                          <a:rPr lang="en-US" sz="1200" i="1" noProof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noProof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200" noProof="0" smtClean="0">
                            <a:latin typeface="Cambria Math" panose="02040503050406030204" pitchFamily="18" charset="0"/>
                          </a:rPr>
                          <m:t>tan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 noProof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𝑏𝑅</m:t>
                        </m:r>
                        <m:r>
                          <a:rPr lang="es-ES" sz="1200" b="0" i="1" noProof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sz="1200" b="0" i="1" noProof="0" smtClean="0">
                            <a:latin typeface="Cambria Math" panose="02040503050406030204" pitchFamily="18" charset="0"/>
                          </a:rPr>
                          <m:t>𝐼𝑊</m:t>
                        </m:r>
                      </m:sub>
                    </m:sSub>
                    <m:r>
                      <a:rPr lang="en-US" sz="1200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200" noProof="0" smtClean="0">
                            <a:latin typeface="Cambria Math" panose="02040503050406030204" pitchFamily="18" charset="0"/>
                          </a:rPr>
                          <m:t>tan</m:t>
                        </m:r>
                        <m:sSub>
                          <m:sSubPr>
                            <m:ctrlPr>
                              <a:rPr lang="en-US" sz="1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20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 noProof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𝑏𝐹</m:t>
                        </m:r>
                        <m:r>
                          <a:rPr lang="es-ES" sz="1200" b="0" i="1" noProof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sz="1200" b="0" i="1" noProof="0" smtClean="0">
                            <a:latin typeface="Cambria Math" panose="02040503050406030204" pitchFamily="18" charset="0"/>
                          </a:rPr>
                          <m:t>𝐼𝑊</m:t>
                        </m:r>
                      </m:sub>
                    </m:sSub>
                  </m:oMath>
                </a14:m>
                <a:r>
                  <a:rPr lang="en-US" sz="1200" noProof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s-ES" sz="1200">
                            <a:latin typeface="Cambria Math" panose="02040503050406030204" pitchFamily="18" charset="0"/>
                          </a:rPr>
                          <m:t>tan</m:t>
                        </m:r>
                        <m:acc>
                          <m:accPr>
                            <m:chr m:val="̂"/>
                            <m:ctrlPr>
                              <a:rPr lang="es-E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e>
                        </m:acc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𝑏𝑅</m:t>
                        </m:r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𝑂𝐵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s-ES" sz="1200">
                            <a:latin typeface="Cambria Math" panose="02040503050406030204" pitchFamily="18" charset="0"/>
                          </a:rPr>
                          <m:t>tan</m:t>
                        </m:r>
                        <m:acc>
                          <m:accPr>
                            <m:chr m:val="̂"/>
                            <m:ctrlPr>
                              <a:rPr lang="es-E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s-E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s-E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e>
                        </m:acc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sz="12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𝑏𝐹</m:t>
                        </m:r>
                        <m:r>
                          <a:rPr lang="es-ES" sz="12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sz="1200" b="0" i="1" smtClean="0">
                            <a:latin typeface="Cambria Math" panose="02040503050406030204" pitchFamily="18" charset="0"/>
                          </a:rPr>
                          <m:t>𝑂𝐵</m:t>
                        </m:r>
                      </m:sub>
                    </m:sSub>
                  </m:oMath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55" name="CuadroTexto 2">
                <a:extLst>
                  <a:ext uri="{FF2B5EF4-FFF2-40B4-BE49-F238E27FC236}">
                    <a16:creationId xmlns:a16="http://schemas.microsoft.com/office/drawing/2014/main" id="{23C686A0-BE20-E607-619E-A616654BB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" y="2407667"/>
                <a:ext cx="7948982" cy="384144"/>
              </a:xfrm>
              <a:prstGeom prst="rect">
                <a:avLst/>
              </a:prstGeom>
              <a:blipFill>
                <a:blip r:embed="rId3"/>
                <a:stretch>
                  <a:fillRect t="-6349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ector recto 7">
            <a:extLst>
              <a:ext uri="{FF2B5EF4-FFF2-40B4-BE49-F238E27FC236}">
                <a16:creationId xmlns:a16="http://schemas.microsoft.com/office/drawing/2014/main" id="{A969F402-A3D8-AFE1-E55E-B8A55C0C4EB4}"/>
              </a:ext>
            </a:extLst>
          </p:cNvPr>
          <p:cNvCxnSpPr/>
          <p:nvPr/>
        </p:nvCxnSpPr>
        <p:spPr>
          <a:xfrm>
            <a:off x="1362037" y="2334503"/>
            <a:ext cx="2762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8">
            <a:extLst>
              <a:ext uri="{FF2B5EF4-FFF2-40B4-BE49-F238E27FC236}">
                <a16:creationId xmlns:a16="http://schemas.microsoft.com/office/drawing/2014/main" id="{7554D2C6-0990-5F64-64D6-52B4ED7D1BD5}"/>
              </a:ext>
            </a:extLst>
          </p:cNvPr>
          <p:cNvCxnSpPr>
            <a:cxnSpLocks/>
          </p:cNvCxnSpPr>
          <p:nvPr/>
        </p:nvCxnSpPr>
        <p:spPr>
          <a:xfrm>
            <a:off x="1759744" y="2334503"/>
            <a:ext cx="1107834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10">
            <a:extLst>
              <a:ext uri="{FF2B5EF4-FFF2-40B4-BE49-F238E27FC236}">
                <a16:creationId xmlns:a16="http://schemas.microsoft.com/office/drawing/2014/main" id="{1BE79323-141F-3B90-313B-C58D451ABA1D}"/>
              </a:ext>
            </a:extLst>
          </p:cNvPr>
          <p:cNvCxnSpPr>
            <a:cxnSpLocks/>
          </p:cNvCxnSpPr>
          <p:nvPr/>
        </p:nvCxnSpPr>
        <p:spPr>
          <a:xfrm>
            <a:off x="3022603" y="2337847"/>
            <a:ext cx="1100737" cy="5663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11">
            <a:extLst>
              <a:ext uri="{FF2B5EF4-FFF2-40B4-BE49-F238E27FC236}">
                <a16:creationId xmlns:a16="http://schemas.microsoft.com/office/drawing/2014/main" id="{788D267E-A6D9-7E17-84D2-863984ABB1A3}"/>
              </a:ext>
            </a:extLst>
          </p:cNvPr>
          <p:cNvCxnSpPr>
            <a:cxnSpLocks/>
          </p:cNvCxnSpPr>
          <p:nvPr/>
        </p:nvCxnSpPr>
        <p:spPr>
          <a:xfrm>
            <a:off x="4389712" y="2334503"/>
            <a:ext cx="1045864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12">
            <a:extLst>
              <a:ext uri="{FF2B5EF4-FFF2-40B4-BE49-F238E27FC236}">
                <a16:creationId xmlns:a16="http://schemas.microsoft.com/office/drawing/2014/main" id="{F0BF81AB-8DDF-A76F-2088-2CD3AD88AE48}"/>
              </a:ext>
            </a:extLst>
          </p:cNvPr>
          <p:cNvCxnSpPr>
            <a:cxnSpLocks/>
          </p:cNvCxnSpPr>
          <p:nvPr/>
        </p:nvCxnSpPr>
        <p:spPr>
          <a:xfrm>
            <a:off x="5614951" y="2340010"/>
            <a:ext cx="893289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13">
            <a:extLst>
              <a:ext uri="{FF2B5EF4-FFF2-40B4-BE49-F238E27FC236}">
                <a16:creationId xmlns:a16="http://schemas.microsoft.com/office/drawing/2014/main" id="{A4B5E044-F2BF-8543-4ABE-EC44E06924DD}"/>
              </a:ext>
            </a:extLst>
          </p:cNvPr>
          <p:cNvCxnSpPr>
            <a:cxnSpLocks/>
          </p:cNvCxnSpPr>
          <p:nvPr/>
        </p:nvCxnSpPr>
        <p:spPr>
          <a:xfrm>
            <a:off x="1334797" y="2857374"/>
            <a:ext cx="109107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14">
            <a:extLst>
              <a:ext uri="{FF2B5EF4-FFF2-40B4-BE49-F238E27FC236}">
                <a16:creationId xmlns:a16="http://schemas.microsoft.com/office/drawing/2014/main" id="{0007DEED-D55F-2680-FBB9-22213698E032}"/>
              </a:ext>
            </a:extLst>
          </p:cNvPr>
          <p:cNvCxnSpPr>
            <a:cxnSpLocks/>
          </p:cNvCxnSpPr>
          <p:nvPr/>
        </p:nvCxnSpPr>
        <p:spPr>
          <a:xfrm>
            <a:off x="2709538" y="2857374"/>
            <a:ext cx="113087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15">
            <a:extLst>
              <a:ext uri="{FF2B5EF4-FFF2-40B4-BE49-F238E27FC236}">
                <a16:creationId xmlns:a16="http://schemas.microsoft.com/office/drawing/2014/main" id="{CB115E02-5EB4-95A7-61AE-A10BD2FB5F55}"/>
              </a:ext>
            </a:extLst>
          </p:cNvPr>
          <p:cNvSpPr txBox="1"/>
          <p:nvPr/>
        </p:nvSpPr>
        <p:spPr>
          <a:xfrm>
            <a:off x="981448" y="2035487"/>
            <a:ext cx="939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Pitch Inertia</a:t>
            </a:r>
          </a:p>
        </p:txBody>
      </p:sp>
      <p:sp>
        <p:nvSpPr>
          <p:cNvPr id="64" name="CuadroTexto 17">
            <a:extLst>
              <a:ext uri="{FF2B5EF4-FFF2-40B4-BE49-F238E27FC236}">
                <a16:creationId xmlns:a16="http://schemas.microsoft.com/office/drawing/2014/main" id="{094DC589-BC4B-EDA6-C85D-DECA462122AF}"/>
              </a:ext>
            </a:extLst>
          </p:cNvPr>
          <p:cNvSpPr txBox="1"/>
          <p:nvPr/>
        </p:nvSpPr>
        <p:spPr>
          <a:xfrm>
            <a:off x="1953523" y="2032752"/>
            <a:ext cx="1896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00000"/>
                </a:solidFill>
              </a:rPr>
              <a:t>Pitch stiffness and damping</a:t>
            </a:r>
          </a:p>
        </p:txBody>
      </p:sp>
      <p:sp>
        <p:nvSpPr>
          <p:cNvPr id="65" name="CuadroTexto 18">
            <a:extLst>
              <a:ext uri="{FF2B5EF4-FFF2-40B4-BE49-F238E27FC236}">
                <a16:creationId xmlns:a16="http://schemas.microsoft.com/office/drawing/2014/main" id="{F645CF8A-984B-E38E-485A-382F5141294F}"/>
              </a:ext>
            </a:extLst>
          </p:cNvPr>
          <p:cNvSpPr txBox="1"/>
          <p:nvPr/>
        </p:nvSpPr>
        <p:spPr>
          <a:xfrm>
            <a:off x="4805391" y="1972075"/>
            <a:ext cx="1137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6"/>
                </a:solidFill>
              </a:rPr>
              <a:t>Heave coupling</a:t>
            </a:r>
          </a:p>
        </p:txBody>
      </p:sp>
      <p:sp>
        <p:nvSpPr>
          <p:cNvPr id="66" name="CuadroTexto 19">
            <a:extLst>
              <a:ext uri="{FF2B5EF4-FFF2-40B4-BE49-F238E27FC236}">
                <a16:creationId xmlns:a16="http://schemas.microsoft.com/office/drawing/2014/main" id="{0AAA6AC6-DFA7-C84E-D6B6-8395FAABCAAF}"/>
              </a:ext>
            </a:extLst>
          </p:cNvPr>
          <p:cNvSpPr txBox="1"/>
          <p:nvPr/>
        </p:nvSpPr>
        <p:spPr>
          <a:xfrm>
            <a:off x="1469598" y="2862017"/>
            <a:ext cx="2535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Torque from braking forces (in-wheel)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21">
                <a:extLst>
                  <a:ext uri="{FF2B5EF4-FFF2-40B4-BE49-F238E27FC236}">
                    <a16:creationId xmlns:a16="http://schemas.microsoft.com/office/drawing/2014/main" id="{7A4BF90D-8031-6C2D-901F-CC744DC9012F}"/>
                  </a:ext>
                </a:extLst>
              </p:cNvPr>
              <p:cNvSpPr txBox="1"/>
              <p:nvPr/>
            </p:nvSpPr>
            <p:spPr>
              <a:xfrm>
                <a:off x="1533902" y="3959801"/>
                <a:ext cx="4937827" cy="3947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en-US" sz="1200" i="1" noProof="0" smtClean="0">
                              <a:solidFill>
                                <a:srgbClr val="005C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noProof="0" smtClean="0">
                              <a:solidFill>
                                <a:srgbClr val="005C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𝑠𝑅</m:t>
                              </m:r>
                            </m:sub>
                          </m:sSub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𝑠𝐹</m:t>
                              </m:r>
                            </m:sub>
                          </m:sSub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200" i="1" noProof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12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sz="12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 noProof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𝑠𝑅</m:t>
                              </m:r>
                            </m:sub>
                          </m:sSub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𝑠𝐹</m:t>
                              </m:r>
                            </m:sub>
                          </m:sSub>
                        </m:e>
                      </m:d>
                      <m:r>
                        <a:rPr lang="en-US" sz="1200" i="1" noProof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200" b="0" i="1" noProof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i="1" noProof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d>
                      <m:acc>
                        <m:accPr>
                          <m:chr m:val="̇"/>
                          <m:ctrlPr>
                            <a:rPr lang="en-US" sz="12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s-ES" sz="12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200" noProof="0" smtClean="0">
                          <a:latin typeface="Cambria Math" panose="02040503050406030204" pitchFamily="18" charset="0"/>
                        </a:rPr>
                        <m:t>tan</m:t>
                      </m:r>
                      <m:sSub>
                        <m:sSub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sSub>
                        <m:sSubPr>
                          <m:ctrlPr>
                            <a:rPr lang="en-US" sz="120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s-ES" sz="1200" b="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sz="1200" b="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𝐼𝑊</m:t>
                              </m:r>
                            </m:sub>
                          </m:sSub>
                        </m:sub>
                      </m:sSub>
                      <m:r>
                        <a:rPr lang="en-US" sz="12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noProof="0" smtClean="0">
                          <a:latin typeface="Cambria Math" panose="02040503050406030204" pitchFamily="18" charset="0"/>
                        </a:rPr>
                        <m:t>tan</m:t>
                      </m:r>
                      <m:sSub>
                        <m:sSubPr>
                          <m:ctrlPr>
                            <a:rPr lang="en-US" sz="1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12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sSub>
                        <m:sSubPr>
                          <m:ctrlPr>
                            <a:rPr lang="en-US" sz="120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noProof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s-ES" sz="1200" b="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ES" sz="1200" b="0" i="1" noProof="0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𝐼𝑊</m:t>
                              </m:r>
                            </m:sub>
                          </m:sSub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ES" sz="1200">
                          <a:latin typeface="Cambria Math" panose="02040503050406030204" pitchFamily="18" charset="0"/>
                        </a:rPr>
                        <m:t>tan</m:t>
                      </m:r>
                      <m:acc>
                        <m:accPr>
                          <m:chr m:val="̂"/>
                          <m:ctrlPr>
                            <a:rPr lang="es-E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E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𝑏𝑅</m:t>
                          </m:r>
                          <m:r>
                            <a:rPr lang="es-E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ES" sz="12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ES" sz="1200">
                          <a:latin typeface="Cambria Math" panose="02040503050406030204" pitchFamily="18" charset="0"/>
                        </a:rPr>
                        <m:t>tan</m:t>
                      </m:r>
                      <m:acc>
                        <m:accPr>
                          <m:chr m:val="̂"/>
                          <m:ctrlPr>
                            <a:rPr lang="es-ES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E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s-E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𝑏𝐹</m:t>
                          </m:r>
                          <m:r>
                            <a:rPr lang="es-ES" sz="1200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s-ES" sz="1200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𝑂𝐵</m:t>
                          </m:r>
                        </m:sub>
                      </m:sSub>
                    </m:oMath>
                  </m:oMathPara>
                </a14:m>
                <a:endParaRPr lang="en-US" sz="1200" noProof="0" dirty="0"/>
              </a:p>
            </p:txBody>
          </p:sp>
        </mc:Choice>
        <mc:Fallback xmlns="">
          <p:sp>
            <p:nvSpPr>
              <p:cNvPr id="67" name="CuadroTexto 21">
                <a:extLst>
                  <a:ext uri="{FF2B5EF4-FFF2-40B4-BE49-F238E27FC236}">
                    <a16:creationId xmlns:a16="http://schemas.microsoft.com/office/drawing/2014/main" id="{7A4BF90D-8031-6C2D-901F-CC744DC90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902" y="3959801"/>
                <a:ext cx="4937827" cy="394788"/>
              </a:xfrm>
              <a:prstGeom prst="rect">
                <a:avLst/>
              </a:prstGeom>
              <a:blipFill>
                <a:blip r:embed="rId4"/>
                <a:stretch>
                  <a:fillRect t="-6250" b="-781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Conector recto 23">
            <a:extLst>
              <a:ext uri="{FF2B5EF4-FFF2-40B4-BE49-F238E27FC236}">
                <a16:creationId xmlns:a16="http://schemas.microsoft.com/office/drawing/2014/main" id="{1FEE8A30-4657-63E1-B6DD-67D594DA79FC}"/>
              </a:ext>
            </a:extLst>
          </p:cNvPr>
          <p:cNvCxnSpPr/>
          <p:nvPr/>
        </p:nvCxnSpPr>
        <p:spPr>
          <a:xfrm>
            <a:off x="1533173" y="3933583"/>
            <a:ext cx="2762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24">
            <a:extLst>
              <a:ext uri="{FF2B5EF4-FFF2-40B4-BE49-F238E27FC236}">
                <a16:creationId xmlns:a16="http://schemas.microsoft.com/office/drawing/2014/main" id="{F861AB88-352F-D614-F710-12D19A0BF3E4}"/>
              </a:ext>
            </a:extLst>
          </p:cNvPr>
          <p:cNvCxnSpPr>
            <a:cxnSpLocks/>
          </p:cNvCxnSpPr>
          <p:nvPr/>
        </p:nvCxnSpPr>
        <p:spPr>
          <a:xfrm>
            <a:off x="2049334" y="3941583"/>
            <a:ext cx="98938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25">
            <a:extLst>
              <a:ext uri="{FF2B5EF4-FFF2-40B4-BE49-F238E27FC236}">
                <a16:creationId xmlns:a16="http://schemas.microsoft.com/office/drawing/2014/main" id="{0F3F571E-D94F-2313-90A5-F1BACCB5CA7A}"/>
              </a:ext>
            </a:extLst>
          </p:cNvPr>
          <p:cNvCxnSpPr>
            <a:cxnSpLocks/>
          </p:cNvCxnSpPr>
          <p:nvPr/>
        </p:nvCxnSpPr>
        <p:spPr>
          <a:xfrm>
            <a:off x="3209448" y="3942742"/>
            <a:ext cx="1034647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26">
            <a:extLst>
              <a:ext uri="{FF2B5EF4-FFF2-40B4-BE49-F238E27FC236}">
                <a16:creationId xmlns:a16="http://schemas.microsoft.com/office/drawing/2014/main" id="{01463F19-534F-E54C-84AB-08E50D22627D}"/>
              </a:ext>
            </a:extLst>
          </p:cNvPr>
          <p:cNvCxnSpPr>
            <a:cxnSpLocks/>
          </p:cNvCxnSpPr>
          <p:nvPr/>
        </p:nvCxnSpPr>
        <p:spPr>
          <a:xfrm>
            <a:off x="4465013" y="3933326"/>
            <a:ext cx="867531" cy="10351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27">
            <a:extLst>
              <a:ext uri="{FF2B5EF4-FFF2-40B4-BE49-F238E27FC236}">
                <a16:creationId xmlns:a16="http://schemas.microsoft.com/office/drawing/2014/main" id="{E68832E9-9588-C157-A25D-87C222EA2C4F}"/>
              </a:ext>
            </a:extLst>
          </p:cNvPr>
          <p:cNvCxnSpPr>
            <a:cxnSpLocks/>
          </p:cNvCxnSpPr>
          <p:nvPr/>
        </p:nvCxnSpPr>
        <p:spPr>
          <a:xfrm>
            <a:off x="5434810" y="3941941"/>
            <a:ext cx="82446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28">
            <a:extLst>
              <a:ext uri="{FF2B5EF4-FFF2-40B4-BE49-F238E27FC236}">
                <a16:creationId xmlns:a16="http://schemas.microsoft.com/office/drawing/2014/main" id="{488D56F0-1C7C-50FE-B257-CF37349A54FC}"/>
              </a:ext>
            </a:extLst>
          </p:cNvPr>
          <p:cNvCxnSpPr>
            <a:cxnSpLocks/>
          </p:cNvCxnSpPr>
          <p:nvPr/>
        </p:nvCxnSpPr>
        <p:spPr>
          <a:xfrm>
            <a:off x="3148231" y="4442243"/>
            <a:ext cx="69772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29">
            <a:extLst>
              <a:ext uri="{FF2B5EF4-FFF2-40B4-BE49-F238E27FC236}">
                <a16:creationId xmlns:a16="http://schemas.microsoft.com/office/drawing/2014/main" id="{2AF9229C-73D0-829B-2261-86CF57371B79}"/>
              </a:ext>
            </a:extLst>
          </p:cNvPr>
          <p:cNvCxnSpPr>
            <a:cxnSpLocks/>
          </p:cNvCxnSpPr>
          <p:nvPr/>
        </p:nvCxnSpPr>
        <p:spPr>
          <a:xfrm>
            <a:off x="2236394" y="4442243"/>
            <a:ext cx="696584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uadroTexto 30">
            <a:extLst>
              <a:ext uri="{FF2B5EF4-FFF2-40B4-BE49-F238E27FC236}">
                <a16:creationId xmlns:a16="http://schemas.microsoft.com/office/drawing/2014/main" id="{095A4D80-A426-66F4-667C-4B2EDA7FB256}"/>
              </a:ext>
            </a:extLst>
          </p:cNvPr>
          <p:cNvSpPr txBox="1"/>
          <p:nvPr/>
        </p:nvSpPr>
        <p:spPr>
          <a:xfrm>
            <a:off x="1220465" y="3635410"/>
            <a:ext cx="1079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Heave mass</a:t>
            </a:r>
          </a:p>
        </p:txBody>
      </p:sp>
      <p:sp>
        <p:nvSpPr>
          <p:cNvPr id="76" name="CuadroTexto 31">
            <a:extLst>
              <a:ext uri="{FF2B5EF4-FFF2-40B4-BE49-F238E27FC236}">
                <a16:creationId xmlns:a16="http://schemas.microsoft.com/office/drawing/2014/main" id="{75A6D7F9-0681-B4FB-5C9A-9CC1131BF0A8}"/>
              </a:ext>
            </a:extLst>
          </p:cNvPr>
          <p:cNvSpPr txBox="1"/>
          <p:nvPr/>
        </p:nvSpPr>
        <p:spPr>
          <a:xfrm>
            <a:off x="2596283" y="3646367"/>
            <a:ext cx="1059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rgbClr val="C00000"/>
                </a:solidFill>
              </a:rPr>
              <a:t>Pitch coupling</a:t>
            </a:r>
          </a:p>
        </p:txBody>
      </p:sp>
      <p:sp>
        <p:nvSpPr>
          <p:cNvPr id="77" name="CuadroTexto 32">
            <a:extLst>
              <a:ext uri="{FF2B5EF4-FFF2-40B4-BE49-F238E27FC236}">
                <a16:creationId xmlns:a16="http://schemas.microsoft.com/office/drawing/2014/main" id="{AC830F7A-12A0-5AE0-02C7-DAAF39FF94A8}"/>
              </a:ext>
            </a:extLst>
          </p:cNvPr>
          <p:cNvSpPr txBox="1"/>
          <p:nvPr/>
        </p:nvSpPr>
        <p:spPr>
          <a:xfrm>
            <a:off x="4395682" y="3624455"/>
            <a:ext cx="1974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6"/>
                </a:solidFill>
              </a:rPr>
              <a:t>Heave stiffness and damping</a:t>
            </a:r>
          </a:p>
        </p:txBody>
      </p:sp>
      <p:grpSp>
        <p:nvGrpSpPr>
          <p:cNvPr id="79" name="Grupo 68">
            <a:extLst>
              <a:ext uri="{FF2B5EF4-FFF2-40B4-BE49-F238E27FC236}">
                <a16:creationId xmlns:a16="http://schemas.microsoft.com/office/drawing/2014/main" id="{95F6FCC8-BBAE-B217-FD53-6273CC40ABC5}"/>
              </a:ext>
            </a:extLst>
          </p:cNvPr>
          <p:cNvGrpSpPr/>
          <p:nvPr/>
        </p:nvGrpSpPr>
        <p:grpSpPr>
          <a:xfrm>
            <a:off x="2200492" y="5039339"/>
            <a:ext cx="3760672" cy="1607451"/>
            <a:chOff x="7694520" y="932099"/>
            <a:chExt cx="3437045" cy="1667787"/>
          </a:xfrm>
        </p:grpSpPr>
        <p:pic>
          <p:nvPicPr>
            <p:cNvPr id="80" name="Picture 1">
              <a:extLst>
                <a:ext uri="{FF2B5EF4-FFF2-40B4-BE49-F238E27FC236}">
                  <a16:creationId xmlns:a16="http://schemas.microsoft.com/office/drawing/2014/main" id="{D73547A1-2609-167C-EFFC-1E1006B6A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94520" y="932099"/>
              <a:ext cx="3437045" cy="16048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81" name="Conector recto de flecha 42">
              <a:extLst>
                <a:ext uri="{FF2B5EF4-FFF2-40B4-BE49-F238E27FC236}">
                  <a16:creationId xmlns:a16="http://schemas.microsoft.com/office/drawing/2014/main" id="{81C4C985-2CC9-F99A-576E-849F734A55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3202" y="2305531"/>
              <a:ext cx="362250" cy="10006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de flecha 44">
              <a:extLst>
                <a:ext uri="{FF2B5EF4-FFF2-40B4-BE49-F238E27FC236}">
                  <a16:creationId xmlns:a16="http://schemas.microsoft.com/office/drawing/2014/main" id="{356E6B86-311F-91F2-1144-07792EDB8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67820" y="2305531"/>
              <a:ext cx="371605" cy="10006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46">
              <a:extLst>
                <a:ext uri="{FF2B5EF4-FFF2-40B4-BE49-F238E27FC236}">
                  <a16:creationId xmlns:a16="http://schemas.microsoft.com/office/drawing/2014/main" id="{5BD147A9-2A94-A2A0-C4F2-921E638DC7D7}"/>
                </a:ext>
              </a:extLst>
            </p:cNvPr>
            <p:cNvCxnSpPr/>
            <p:nvPr/>
          </p:nvCxnSpPr>
          <p:spPr>
            <a:xfrm flipV="1">
              <a:off x="8524875" y="1909943"/>
              <a:ext cx="542925" cy="395588"/>
            </a:xfrm>
            <a:prstGeom prst="line">
              <a:avLst/>
            </a:prstGeom>
            <a:ln w="28575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47">
              <a:extLst>
                <a:ext uri="{FF2B5EF4-FFF2-40B4-BE49-F238E27FC236}">
                  <a16:creationId xmlns:a16="http://schemas.microsoft.com/office/drawing/2014/main" id="{26D022BA-9329-07B7-EE89-289FD908FF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51964" y="1894744"/>
              <a:ext cx="592186" cy="444387"/>
            </a:xfrm>
            <a:prstGeom prst="line">
              <a:avLst/>
            </a:prstGeom>
            <a:ln w="28575">
              <a:solidFill>
                <a:schemeClr val="accent2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de flecha 49">
              <a:extLst>
                <a:ext uri="{FF2B5EF4-FFF2-40B4-BE49-F238E27FC236}">
                  <a16:creationId xmlns:a16="http://schemas.microsoft.com/office/drawing/2014/main" id="{BC115ACE-4574-E46E-388D-EAE328FC9F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0215" y="1894744"/>
              <a:ext cx="294216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50">
              <a:extLst>
                <a:ext uri="{FF2B5EF4-FFF2-40B4-BE49-F238E27FC236}">
                  <a16:creationId xmlns:a16="http://schemas.microsoft.com/office/drawing/2014/main" id="{FBED9F96-A640-3EFB-1B39-BB2CC15E2A52}"/>
                </a:ext>
              </a:extLst>
            </p:cNvPr>
            <p:cNvCxnSpPr>
              <a:cxnSpLocks/>
            </p:cNvCxnSpPr>
            <p:nvPr/>
          </p:nvCxnSpPr>
          <p:spPr>
            <a:xfrm>
              <a:off x="9091555" y="1922040"/>
              <a:ext cx="0" cy="114122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de flecha 53">
              <a:extLst>
                <a:ext uri="{FF2B5EF4-FFF2-40B4-BE49-F238E27FC236}">
                  <a16:creationId xmlns:a16="http://schemas.microsoft.com/office/drawing/2014/main" id="{6FED71CF-3093-E8ED-3994-D2DE7BA55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042" y="1909943"/>
              <a:ext cx="348293" cy="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de flecha 59">
              <a:extLst>
                <a:ext uri="{FF2B5EF4-FFF2-40B4-BE49-F238E27FC236}">
                  <a16:creationId xmlns:a16="http://schemas.microsoft.com/office/drawing/2014/main" id="{CDF74E79-A221-FC22-7C6E-44BA286A63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721085" y="1655182"/>
              <a:ext cx="7124" cy="256766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Arco 60">
              <a:extLst>
                <a:ext uri="{FF2B5EF4-FFF2-40B4-BE49-F238E27FC236}">
                  <a16:creationId xmlns:a16="http://schemas.microsoft.com/office/drawing/2014/main" id="{0A638406-C011-6260-F979-1DF89E1FDA17}"/>
                </a:ext>
              </a:extLst>
            </p:cNvPr>
            <p:cNvSpPr/>
            <p:nvPr/>
          </p:nvSpPr>
          <p:spPr>
            <a:xfrm>
              <a:off x="8619207" y="2102170"/>
              <a:ext cx="363022" cy="444387"/>
            </a:xfrm>
            <a:prstGeom prst="arc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0" name="Arco 61">
              <a:extLst>
                <a:ext uri="{FF2B5EF4-FFF2-40B4-BE49-F238E27FC236}">
                  <a16:creationId xmlns:a16="http://schemas.microsoft.com/office/drawing/2014/main" id="{1DF60AD1-C98C-DDD5-B5F8-92717DFF1766}"/>
                </a:ext>
              </a:extLst>
            </p:cNvPr>
            <p:cNvSpPr/>
            <p:nvPr/>
          </p:nvSpPr>
          <p:spPr>
            <a:xfrm rot="15948662">
              <a:off x="9875386" y="2082164"/>
              <a:ext cx="363022" cy="444387"/>
            </a:xfrm>
            <a:prstGeom prst="arc">
              <a:avLst/>
            </a:prstGeom>
            <a:ln w="28575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uadroTexto 63">
                  <a:extLst>
                    <a:ext uri="{FF2B5EF4-FFF2-40B4-BE49-F238E27FC236}">
                      <a16:creationId xmlns:a16="http://schemas.microsoft.com/office/drawing/2014/main" id="{C9545A7E-5608-6336-BEA0-C934235E5FE6}"/>
                    </a:ext>
                  </a:extLst>
                </p:cNvPr>
                <p:cNvSpPr txBox="1"/>
                <p:nvPr/>
              </p:nvSpPr>
              <p:spPr>
                <a:xfrm>
                  <a:off x="8998430" y="2058459"/>
                  <a:ext cx="57358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noProof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b>
                          <m:sSubPr>
                            <m:ctrlPr>
                              <a:rPr lang="en-US" sz="140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40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400" noProof="0" dirty="0"/>
                </a:p>
              </p:txBody>
            </p:sp>
          </mc:Choice>
          <mc:Fallback xmlns="">
            <p:sp>
              <p:nvSpPr>
                <p:cNvPr id="91" name="CuadroTexto 63">
                  <a:extLst>
                    <a:ext uri="{FF2B5EF4-FFF2-40B4-BE49-F238E27FC236}">
                      <a16:creationId xmlns:a16="http://schemas.microsoft.com/office/drawing/2014/main" id="{C9545A7E-5608-6336-BEA0-C934235E5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8430" y="2058459"/>
                  <a:ext cx="573584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CuadroTexto 64">
                  <a:extLst>
                    <a:ext uri="{FF2B5EF4-FFF2-40B4-BE49-F238E27FC236}">
                      <a16:creationId xmlns:a16="http://schemas.microsoft.com/office/drawing/2014/main" id="{BAC0D388-B8B9-4E50-87E2-CE605E525415}"/>
                    </a:ext>
                  </a:extLst>
                </p:cNvPr>
                <p:cNvSpPr txBox="1"/>
                <p:nvPr/>
              </p:nvSpPr>
              <p:spPr>
                <a:xfrm>
                  <a:off x="10125215" y="1882274"/>
                  <a:ext cx="475929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noProof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b>
                          <m:sSubPr>
                            <m:ctrlPr>
                              <a:rPr lang="en-US" sz="140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400" b="0" i="1" noProof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sz="1400" noProof="0" dirty="0"/>
                </a:p>
              </p:txBody>
            </p:sp>
          </mc:Choice>
          <mc:Fallback xmlns="">
            <p:sp>
              <p:nvSpPr>
                <p:cNvPr id="92" name="CuadroTexto 64">
                  <a:extLst>
                    <a:ext uri="{FF2B5EF4-FFF2-40B4-BE49-F238E27FC236}">
                      <a16:creationId xmlns:a16="http://schemas.microsoft.com/office/drawing/2014/main" id="{BAC0D388-B8B9-4E50-87E2-CE605E525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5215" y="1882274"/>
                  <a:ext cx="475929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11628" b="-40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CuadroTexto 20">
                  <a:extLst>
                    <a:ext uri="{FF2B5EF4-FFF2-40B4-BE49-F238E27FC236}">
                      <a16:creationId xmlns:a16="http://schemas.microsoft.com/office/drawing/2014/main" id="{49012C57-AC32-0195-5192-A52C0AA84BD9}"/>
                    </a:ext>
                  </a:extLst>
                </p:cNvPr>
                <p:cNvSpPr txBox="1"/>
                <p:nvPr/>
              </p:nvSpPr>
              <p:spPr>
                <a:xfrm>
                  <a:off x="8027212" y="1944611"/>
                  <a:ext cx="36760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160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600" u="sng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CuadroTexto 20">
                  <a:extLst>
                    <a:ext uri="{FF2B5EF4-FFF2-40B4-BE49-F238E27FC236}">
                      <a16:creationId xmlns:a16="http://schemas.microsoft.com/office/drawing/2014/main" id="{49012C57-AC32-0195-5192-A52C0AA84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212" y="1944611"/>
                  <a:ext cx="367601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4545"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uadroTexto 65">
                  <a:extLst>
                    <a:ext uri="{FF2B5EF4-FFF2-40B4-BE49-F238E27FC236}">
                      <a16:creationId xmlns:a16="http://schemas.microsoft.com/office/drawing/2014/main" id="{45C321BB-C8E7-0EFD-A87A-73AF7B25C5F1}"/>
                    </a:ext>
                  </a:extLst>
                </p:cNvPr>
                <p:cNvSpPr txBox="1"/>
                <p:nvPr/>
              </p:nvSpPr>
              <p:spPr>
                <a:xfrm>
                  <a:off x="10455624" y="2261332"/>
                  <a:ext cx="36760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noProof="0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𝑏𝐹</m:t>
                            </m:r>
                          </m:sub>
                        </m:sSub>
                      </m:oMath>
                    </m:oMathPara>
                  </a14:m>
                  <a:endParaRPr lang="en-US" sz="1600" u="sng" noProof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CuadroTexto 65">
                  <a:extLst>
                    <a:ext uri="{FF2B5EF4-FFF2-40B4-BE49-F238E27FC236}">
                      <a16:creationId xmlns:a16="http://schemas.microsoft.com/office/drawing/2014/main" id="{45C321BB-C8E7-0EFD-A87A-73AF7B25C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5624" y="2261332"/>
                  <a:ext cx="367601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3030" b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ectángulo 66">
              <a:extLst>
                <a:ext uri="{FF2B5EF4-FFF2-40B4-BE49-F238E27FC236}">
                  <a16:creationId xmlns:a16="http://schemas.microsoft.com/office/drawing/2014/main" id="{E724365E-2E98-FBFD-02F1-80A2628E3F99}"/>
                </a:ext>
              </a:extLst>
            </p:cNvPr>
            <p:cNvSpPr/>
            <p:nvPr/>
          </p:nvSpPr>
          <p:spPr>
            <a:xfrm>
              <a:off x="8704821" y="1546107"/>
              <a:ext cx="238125" cy="2261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6" name="Rectángulo 67">
              <a:extLst>
                <a:ext uri="{FF2B5EF4-FFF2-40B4-BE49-F238E27FC236}">
                  <a16:creationId xmlns:a16="http://schemas.microsoft.com/office/drawing/2014/main" id="{2A13BFBB-5DBC-620E-E5FF-66930A8DA1B0}"/>
                </a:ext>
              </a:extLst>
            </p:cNvPr>
            <p:cNvSpPr/>
            <p:nvPr/>
          </p:nvSpPr>
          <p:spPr>
            <a:xfrm>
              <a:off x="9990696" y="1688982"/>
              <a:ext cx="238125" cy="2261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08" name="Conector recto 13">
            <a:extLst>
              <a:ext uri="{FF2B5EF4-FFF2-40B4-BE49-F238E27FC236}">
                <a16:creationId xmlns:a16="http://schemas.microsoft.com/office/drawing/2014/main" id="{924B8351-22EC-61F7-A1AB-FD26FE373695}"/>
              </a:ext>
            </a:extLst>
          </p:cNvPr>
          <p:cNvCxnSpPr>
            <a:cxnSpLocks/>
          </p:cNvCxnSpPr>
          <p:nvPr/>
        </p:nvCxnSpPr>
        <p:spPr>
          <a:xfrm>
            <a:off x="4132906" y="2874189"/>
            <a:ext cx="109107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4">
            <a:extLst>
              <a:ext uri="{FF2B5EF4-FFF2-40B4-BE49-F238E27FC236}">
                <a16:creationId xmlns:a16="http://schemas.microsoft.com/office/drawing/2014/main" id="{01CE41B0-8547-F4A5-CD08-E487CDEE46FD}"/>
              </a:ext>
            </a:extLst>
          </p:cNvPr>
          <p:cNvCxnSpPr>
            <a:cxnSpLocks/>
          </p:cNvCxnSpPr>
          <p:nvPr/>
        </p:nvCxnSpPr>
        <p:spPr>
          <a:xfrm>
            <a:off x="5507647" y="2874189"/>
            <a:ext cx="1130877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uadroTexto 19">
            <a:extLst>
              <a:ext uri="{FF2B5EF4-FFF2-40B4-BE49-F238E27FC236}">
                <a16:creationId xmlns:a16="http://schemas.microsoft.com/office/drawing/2014/main" id="{B9A873BF-4E99-D24D-6A94-BBA8ADD64B00}"/>
              </a:ext>
            </a:extLst>
          </p:cNvPr>
          <p:cNvSpPr txBox="1"/>
          <p:nvPr/>
        </p:nvSpPr>
        <p:spPr>
          <a:xfrm>
            <a:off x="4152849" y="2881167"/>
            <a:ext cx="2556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Torque from braking forces (on board)</a:t>
            </a:r>
          </a:p>
        </p:txBody>
      </p:sp>
      <p:cxnSp>
        <p:nvCxnSpPr>
          <p:cNvPr id="111" name="Conector recto 13">
            <a:extLst>
              <a:ext uri="{FF2B5EF4-FFF2-40B4-BE49-F238E27FC236}">
                <a16:creationId xmlns:a16="http://schemas.microsoft.com/office/drawing/2014/main" id="{135891FB-D73F-06BD-6500-F78689135311}"/>
              </a:ext>
            </a:extLst>
          </p:cNvPr>
          <p:cNvCxnSpPr>
            <a:cxnSpLocks/>
          </p:cNvCxnSpPr>
          <p:nvPr/>
        </p:nvCxnSpPr>
        <p:spPr>
          <a:xfrm>
            <a:off x="4082866" y="4442243"/>
            <a:ext cx="8906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3">
            <a:extLst>
              <a:ext uri="{FF2B5EF4-FFF2-40B4-BE49-F238E27FC236}">
                <a16:creationId xmlns:a16="http://schemas.microsoft.com/office/drawing/2014/main" id="{B714B96D-F513-776E-F466-0670FCD3C861}"/>
              </a:ext>
            </a:extLst>
          </p:cNvPr>
          <p:cNvCxnSpPr>
            <a:cxnSpLocks/>
          </p:cNvCxnSpPr>
          <p:nvPr/>
        </p:nvCxnSpPr>
        <p:spPr>
          <a:xfrm>
            <a:off x="5083781" y="4442243"/>
            <a:ext cx="86106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uadroTexto 19">
            <a:extLst>
              <a:ext uri="{FF2B5EF4-FFF2-40B4-BE49-F238E27FC236}">
                <a16:creationId xmlns:a16="http://schemas.microsoft.com/office/drawing/2014/main" id="{0DE63C85-BE65-26BD-2257-93292D238F03}"/>
              </a:ext>
            </a:extLst>
          </p:cNvPr>
          <p:cNvSpPr txBox="1"/>
          <p:nvPr/>
        </p:nvSpPr>
        <p:spPr>
          <a:xfrm>
            <a:off x="1486024" y="4470675"/>
            <a:ext cx="2535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Torque from braking forces (in-wheel)</a:t>
            </a:r>
          </a:p>
        </p:txBody>
      </p:sp>
      <p:sp>
        <p:nvSpPr>
          <p:cNvPr id="116" name="CuadroTexto 19">
            <a:extLst>
              <a:ext uri="{FF2B5EF4-FFF2-40B4-BE49-F238E27FC236}">
                <a16:creationId xmlns:a16="http://schemas.microsoft.com/office/drawing/2014/main" id="{1B786497-7194-DF2B-6086-9BFA13E9396F}"/>
              </a:ext>
            </a:extLst>
          </p:cNvPr>
          <p:cNvSpPr txBox="1"/>
          <p:nvPr/>
        </p:nvSpPr>
        <p:spPr>
          <a:xfrm>
            <a:off x="4025240" y="4472381"/>
            <a:ext cx="2556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2">
                    <a:lumMod val="50000"/>
                  </a:schemeClr>
                </a:solidFill>
              </a:rPr>
              <a:t>Torque from braking forces (on board)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4E98BED-EE68-2E77-212E-3246CF881CAA}"/>
              </a:ext>
            </a:extLst>
          </p:cNvPr>
          <p:cNvSpPr/>
          <p:nvPr/>
        </p:nvSpPr>
        <p:spPr>
          <a:xfrm>
            <a:off x="8097520" y="3992880"/>
            <a:ext cx="2340454" cy="1585875"/>
          </a:xfrm>
          <a:prstGeom prst="rect">
            <a:avLst/>
          </a:prstGeom>
          <a:noFill/>
          <a:ln>
            <a:solidFill>
              <a:srgbClr val="00008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05139C0-7AC0-DA95-E6CB-9CDAD2BD297D}"/>
              </a:ext>
            </a:extLst>
          </p:cNvPr>
          <p:cNvSpPr txBox="1"/>
          <p:nvPr/>
        </p:nvSpPr>
        <p:spPr>
          <a:xfrm>
            <a:off x="191695" y="844451"/>
            <a:ext cx="11028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The simplified model used for the pitch and heave dynamics are the following. This information is coded into a state-space representation in the simulation model. </a:t>
            </a:r>
          </a:p>
          <a:p>
            <a:pPr algn="just"/>
            <a:endParaRPr lang="en-US" sz="1600" noProof="0" dirty="0">
              <a:solidFill>
                <a:srgbClr val="0000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02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FFCB946D-2C99-8542-AE5D-BD1D9D4E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E246-D293-4BC3-A61A-6CCA0F08AD7A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0D5DC464-B1A9-A522-AF15-88EE447BB266}"/>
              </a:ext>
            </a:extLst>
          </p:cNvPr>
          <p:cNvSpPr txBox="1">
            <a:spLocks/>
          </p:cNvSpPr>
          <p:nvPr/>
        </p:nvSpPr>
        <p:spPr>
          <a:xfrm>
            <a:off x="2152650" y="3820942"/>
            <a:ext cx="7886699" cy="1066800"/>
          </a:xfrm>
          <a:prstGeom prst="rect">
            <a:avLst/>
          </a:prstGeom>
        </p:spPr>
        <p:txBody>
          <a:bodyPr anchor="b"/>
          <a:lstStyle>
            <a:defPPr>
              <a:defRPr lang="es-ES"/>
            </a:defPPr>
            <a:lvl1pPr marL="0" algn="l" defTabSz="914400" rtl="0" eaLnBrk="1" latinLnBrk="0" hangingPunct="1">
              <a:defRPr sz="2000" b="1" kern="1200">
                <a:solidFill>
                  <a:srgbClr val="005C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noProof="0" dirty="0">
                <a:latin typeface="Arial" panose="020B0604020202020204" pitchFamily="34" charset="0"/>
                <a:cs typeface="Arial" panose="020B0604020202020204" pitchFamily="34" charset="0"/>
              </a:rPr>
              <a:t>¡Thank you!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55E518E-5A39-DD46-AC10-79B459646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119" y="2593221"/>
            <a:ext cx="4837058" cy="111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29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C958-805F-161E-B9F8-B8DC7D51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4">
            <a:extLst>
              <a:ext uri="{FF2B5EF4-FFF2-40B4-BE49-F238E27FC236}">
                <a16:creationId xmlns:a16="http://schemas.microsoft.com/office/drawing/2014/main" id="{CCC82F0D-B9CD-539F-3631-8537FCDB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6526" y="99985"/>
            <a:ext cx="2743200" cy="365125"/>
          </a:xfrm>
        </p:spPr>
        <p:txBody>
          <a:bodyPr/>
          <a:lstStyle/>
          <a:p>
            <a:fld id="{5ED6E246-D293-4BC3-A61A-6CCA0F08AD7A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5CA4BD1-BA36-F694-F289-34C44890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798" y="468510"/>
            <a:ext cx="10043604" cy="5795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68E95-0448-58D5-E316-F324F773EB65}"/>
              </a:ext>
            </a:extLst>
          </p:cNvPr>
          <p:cNvSpPr txBox="1"/>
          <p:nvPr/>
        </p:nvSpPr>
        <p:spPr>
          <a:xfrm>
            <a:off x="328474" y="1171800"/>
            <a:ext cx="7384659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sz="1200" b="1" i="0" dirty="0">
                <a:effectLst/>
                <a:latin typeface="Segoe WPC"/>
              </a:rPr>
              <a:t>主要流程</a:t>
            </a:r>
            <a:r>
              <a:rPr lang="zh-CN" altLang="en-US" sz="1200" b="0" i="0" dirty="0">
                <a:effectLst/>
                <a:latin typeface="Segoe WPC"/>
              </a:rPr>
              <a:t>：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信号采集与预处理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获取驾驶员压力请求、车辆速度、加速度、坡度等信号。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判断各类信号有效性和系统状态（如</a:t>
            </a:r>
            <a:r>
              <a:rPr lang="en-US" altLang="zh-CN" sz="1200" b="0" i="0" dirty="0">
                <a:effectLst/>
                <a:latin typeface="Segoe WPC"/>
              </a:rPr>
              <a:t>Boost</a:t>
            </a:r>
            <a:r>
              <a:rPr lang="zh-CN" altLang="en-US" sz="1200" b="0" i="0" dirty="0">
                <a:effectLst/>
                <a:latin typeface="Segoe WPC"/>
              </a:rPr>
              <a:t>状态、信号完整性等）。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软停激活判据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检查舒适停车开关、</a:t>
            </a:r>
            <a:r>
              <a:rPr lang="en-US" altLang="zh-CN" sz="1200" b="0" i="0" dirty="0">
                <a:effectLst/>
                <a:latin typeface="Segoe WPC"/>
              </a:rPr>
              <a:t>Boost</a:t>
            </a:r>
            <a:r>
              <a:rPr lang="zh-CN" altLang="en-US" sz="1200" b="0" i="0" dirty="0">
                <a:effectLst/>
                <a:latin typeface="Segoe WPC"/>
              </a:rPr>
              <a:t>系统、信号有效性等，决定是否允许软停。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检查其他性能子系统（如</a:t>
            </a:r>
            <a:r>
              <a:rPr lang="en-US" altLang="zh-CN" sz="1200" b="0" i="0" dirty="0">
                <a:effectLst/>
                <a:latin typeface="Segoe WPC"/>
              </a:rPr>
              <a:t>ABS</a:t>
            </a:r>
            <a:r>
              <a:rPr lang="zh-CN" altLang="en-US" sz="1200" b="0" i="0" dirty="0">
                <a:effectLst/>
                <a:latin typeface="Segoe WPC"/>
              </a:rPr>
              <a:t>等）是否激活，防止冲突。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采用延时机制，避免性能子系统刚退出时立即进入软停。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坡度补偿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根据坡度查表调整驻车压力，防止车辆在坡道上溜车。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车辆行驶方向判定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检查所有车轮是否为前进方向，作为软停激活的前提。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状态机管理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状态包括：</a:t>
            </a:r>
            <a:r>
              <a:rPr lang="en-US" altLang="zh-CN" sz="1200" b="0" i="0" dirty="0">
                <a:effectLst/>
                <a:latin typeface="Segoe WPC"/>
              </a:rPr>
              <a:t>OFF</a:t>
            </a:r>
            <a:r>
              <a:rPr lang="zh-CN" altLang="en-US" sz="1200" b="0" i="0" dirty="0">
                <a:effectLst/>
                <a:latin typeface="Segoe WPC"/>
              </a:rPr>
              <a:t>、</a:t>
            </a:r>
            <a:r>
              <a:rPr lang="en-US" altLang="zh-CN" sz="1200" b="0" i="0" dirty="0">
                <a:effectLst/>
                <a:latin typeface="Segoe WPC"/>
              </a:rPr>
              <a:t>STANDBY</a:t>
            </a:r>
            <a:r>
              <a:rPr lang="zh-CN" altLang="en-US" sz="1200" b="0" i="0" dirty="0">
                <a:effectLst/>
                <a:latin typeface="Segoe WPC"/>
              </a:rPr>
              <a:t>、</a:t>
            </a:r>
            <a:r>
              <a:rPr lang="en-US" altLang="zh-CN" sz="1200" b="0" i="0" dirty="0">
                <a:effectLst/>
                <a:latin typeface="Segoe WPC"/>
              </a:rPr>
              <a:t>ACTIVE</a:t>
            </a:r>
            <a:r>
              <a:rPr lang="zh-CN" altLang="en-US" sz="1200" b="0" i="0" dirty="0">
                <a:effectLst/>
                <a:latin typeface="Segoe WPC"/>
              </a:rPr>
              <a:t>、</a:t>
            </a:r>
            <a:r>
              <a:rPr lang="en-US" altLang="zh-CN" sz="1200" b="0" i="0" dirty="0">
                <a:effectLst/>
                <a:latin typeface="Segoe WPC"/>
              </a:rPr>
              <a:t>FAILURE</a:t>
            </a:r>
            <a:r>
              <a:rPr lang="zh-CN" altLang="en-US" sz="1200" b="0" i="0" dirty="0">
                <a:effectLst/>
                <a:latin typeface="Segoe WPC"/>
              </a:rPr>
              <a:t>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进入</a:t>
            </a:r>
            <a:r>
              <a:rPr lang="en-US" altLang="zh-CN" sz="1200" b="0" i="0" dirty="0">
                <a:effectLst/>
                <a:latin typeface="Segoe WPC"/>
              </a:rPr>
              <a:t>ACTIVE</a:t>
            </a:r>
            <a:r>
              <a:rPr lang="zh-CN" altLang="en-US" sz="1200" b="0" i="0" dirty="0">
                <a:effectLst/>
                <a:latin typeface="Segoe WPC"/>
              </a:rPr>
              <a:t>状态需满足一系列判据（如压力、速度、加速度、坡度、方向等）。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状态切换时重置计时器和相关标志。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压力请求计算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200" b="0" i="0" dirty="0">
                <a:effectLst/>
                <a:latin typeface="Segoe WPC"/>
              </a:rPr>
              <a:t>ACTIVE</a:t>
            </a:r>
            <a:r>
              <a:rPr lang="zh-CN" altLang="en-US" sz="1200" b="0" i="0" dirty="0">
                <a:effectLst/>
                <a:latin typeface="Segoe WPC"/>
              </a:rPr>
              <a:t>状态下，根据车辆速度、停止状态、加速检测等，动态调整压力请求。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坡道、滚动、反向驾驶等特殊情况做压力补偿。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zh-CN" sz="1200" b="0" i="0" dirty="0">
                <a:effectLst/>
                <a:latin typeface="Segoe WPC"/>
              </a:rPr>
              <a:t>SSM</a:t>
            </a:r>
            <a:r>
              <a:rPr lang="zh-CN" altLang="en-US" sz="1200" b="0" i="0" dirty="0">
                <a:effectLst/>
                <a:latin typeface="Segoe WPC"/>
              </a:rPr>
              <a:t>（自动泊车等）特殊场景下，压力请求做斜坡上升。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压力速率限制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对压力变化速率做滤波和限幅，保证舒适性和安全性。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低</a:t>
            </a:r>
            <a:r>
              <a:rPr lang="en-US" altLang="zh-CN" sz="1200" b="1" i="0" dirty="0">
                <a:effectLst/>
                <a:latin typeface="Segoe WPC"/>
              </a:rPr>
              <a:t>Boost</a:t>
            </a:r>
            <a:r>
              <a:rPr lang="zh-CN" altLang="en-US" sz="1200" b="1" i="0" dirty="0">
                <a:effectLst/>
                <a:latin typeface="Segoe WPC"/>
              </a:rPr>
              <a:t>检测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检查</a:t>
            </a:r>
            <a:r>
              <a:rPr lang="en-US" altLang="zh-CN" sz="1200" b="0" i="0" dirty="0">
                <a:effectLst/>
                <a:latin typeface="Segoe WPC"/>
              </a:rPr>
              <a:t>Boost</a:t>
            </a:r>
            <a:r>
              <a:rPr lang="zh-CN" altLang="en-US" sz="1200" b="0" i="0" dirty="0">
                <a:effectLst/>
                <a:latin typeface="Segoe WPC"/>
              </a:rPr>
              <a:t>压力是否低于阈值，计时后置低</a:t>
            </a:r>
            <a:r>
              <a:rPr lang="en-US" altLang="zh-CN" sz="1200" b="0" i="0" dirty="0">
                <a:effectLst/>
                <a:latin typeface="Segoe WPC"/>
              </a:rPr>
              <a:t>Boost</a:t>
            </a:r>
            <a:r>
              <a:rPr lang="zh-CN" altLang="en-US" sz="1200" b="0" i="0" dirty="0">
                <a:effectLst/>
                <a:latin typeface="Segoe WPC"/>
              </a:rPr>
              <a:t>标志。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软停结束与复位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车辆速度高于阈值、压力请求低于阈值、性能子系统激活等，均会退出软停。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退出时压力做斜坡恢复，防止突变。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effectLst/>
                <a:latin typeface="Segoe WPC"/>
              </a:rPr>
              <a:t>轮个体接口</a:t>
            </a:r>
            <a:endParaRPr lang="zh-CN" altLang="en-US" sz="1200" b="0" i="0" dirty="0">
              <a:effectLst/>
              <a:latin typeface="Segoe WPC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sz="1200" b="0" i="0" dirty="0">
                <a:effectLst/>
                <a:latin typeface="Segoe WPC"/>
              </a:rPr>
              <a:t>将压力请求和速率分配到每个车轮，便于后续轮个体控制</a:t>
            </a:r>
          </a:p>
        </p:txBody>
      </p:sp>
    </p:spTree>
    <p:extLst>
      <p:ext uri="{BB962C8B-B14F-4D97-AF65-F5344CB8AC3E}">
        <p14:creationId xmlns:p14="http://schemas.microsoft.com/office/powerpoint/2010/main" val="86106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D862718-7932-3AA2-FAB8-AE36175256F9}"/>
              </a:ext>
            </a:extLst>
          </p:cNvPr>
          <p:cNvSpPr txBox="1"/>
          <p:nvPr/>
        </p:nvSpPr>
        <p:spPr>
          <a:xfrm>
            <a:off x="626532" y="1305342"/>
            <a:ext cx="109304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输入读取：从 </a:t>
            </a:r>
            <a:r>
              <a:rPr lang="en-US" altLang="zh-CN" b="0" i="0" dirty="0" err="1">
                <a:effectLst/>
                <a:latin typeface="Segoe WPC"/>
              </a:rPr>
              <a:t>Db_Input</a:t>
            </a:r>
            <a:r>
              <a:rPr lang="zh-CN" altLang="en-US" b="0" i="0" dirty="0">
                <a:effectLst/>
                <a:latin typeface="Segoe WPC"/>
              </a:rPr>
              <a:t>、</a:t>
            </a:r>
            <a:r>
              <a:rPr lang="en-US" altLang="zh-CN" b="0" i="0" dirty="0" err="1">
                <a:effectLst/>
                <a:latin typeface="Segoe WPC"/>
              </a:rPr>
              <a:t>WhlSpd</a:t>
            </a:r>
            <a:r>
              <a:rPr lang="zh-CN" altLang="en-US" b="0" i="0" dirty="0">
                <a:effectLst/>
                <a:latin typeface="Segoe WPC"/>
              </a:rPr>
              <a:t>、</a:t>
            </a:r>
            <a:r>
              <a:rPr lang="en-US" altLang="zh-CN" b="0" i="0" dirty="0" err="1">
                <a:effectLst/>
                <a:latin typeface="Segoe WPC"/>
              </a:rPr>
              <a:t>ArbBoost</a:t>
            </a:r>
            <a:r>
              <a:rPr lang="en-US" altLang="zh-CN" b="0" i="0" dirty="0">
                <a:effectLst/>
                <a:latin typeface="Segoe WPC"/>
              </a:rPr>
              <a:t>/Bhs/</a:t>
            </a:r>
            <a:r>
              <a:rPr lang="en-US" altLang="zh-CN" b="0" i="0" dirty="0" err="1">
                <a:effectLst/>
                <a:latin typeface="Segoe WPC"/>
              </a:rPr>
              <a:t>PerfMode</a:t>
            </a:r>
            <a:r>
              <a:rPr lang="en-US" altLang="zh-CN" b="0" i="0" dirty="0">
                <a:effectLst/>
                <a:latin typeface="Segoe WPC"/>
              </a:rPr>
              <a:t> </a:t>
            </a:r>
            <a:r>
              <a:rPr lang="zh-CN" altLang="en-US" b="0" i="0" dirty="0">
                <a:effectLst/>
                <a:latin typeface="Segoe WPC"/>
              </a:rPr>
              <a:t>等读取车速、车轮转向、坡度、制动踏板请求、</a:t>
            </a:r>
            <a:r>
              <a:rPr lang="en-US" altLang="zh-CN" b="0" i="0" dirty="0">
                <a:effectLst/>
                <a:latin typeface="Segoe WPC"/>
              </a:rPr>
              <a:t>Boost </a:t>
            </a:r>
            <a:r>
              <a:rPr lang="zh-CN" altLang="en-US" b="0" i="0" dirty="0">
                <a:effectLst/>
                <a:latin typeface="Segoe WPC"/>
              </a:rPr>
              <a:t>状态、</a:t>
            </a:r>
            <a:r>
              <a:rPr lang="en-US" altLang="zh-CN" b="0" i="0" dirty="0">
                <a:effectLst/>
                <a:latin typeface="Segoe WPC"/>
              </a:rPr>
              <a:t>SSM/</a:t>
            </a:r>
            <a:r>
              <a:rPr lang="zh-CN" altLang="en-US" b="0" i="0" dirty="0">
                <a:effectLst/>
                <a:latin typeface="Segoe WPC"/>
              </a:rPr>
              <a:t>驻车相关信号等。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激活条件判定：判断是否满足软停触发条件（速度阈、制动踏板释放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接近停止、方向一致性、</a:t>
            </a:r>
            <a:r>
              <a:rPr lang="en-US" altLang="zh-CN" b="0" i="0" dirty="0">
                <a:effectLst/>
                <a:latin typeface="Segoe WPC"/>
              </a:rPr>
              <a:t>Boost/</a:t>
            </a:r>
            <a:r>
              <a:rPr lang="zh-CN" altLang="en-US" b="0" i="0" dirty="0">
                <a:effectLst/>
                <a:latin typeface="Segoe WPC"/>
              </a:rPr>
              <a:t>系统允许、信号完整性等）。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状态机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计时器：管理 </a:t>
            </a:r>
            <a:r>
              <a:rPr lang="en-US" altLang="zh-CN" b="0" i="0" dirty="0">
                <a:effectLst/>
                <a:latin typeface="Segoe WPC"/>
              </a:rPr>
              <a:t>OFF/Standby/Active </a:t>
            </a:r>
            <a:r>
              <a:rPr lang="zh-CN" altLang="en-US" b="0" i="0" dirty="0">
                <a:effectLst/>
                <a:latin typeface="Segoe WPC"/>
              </a:rPr>
              <a:t>等状态，使用定时器防抖与延时退出（避免与其它子系统冲突）。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压力计算：计算每个轮的目标驻车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保持压力（考虑坡度补偿、方向、停止后保持压力、速度相关梯度等）。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速率限制与滤波：对压力上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下调速率进行限幅和平滑，以保证舒适性。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Segoe WPC"/>
              </a:rPr>
              <a:t>输出与仲裁：将结果写入 </a:t>
            </a:r>
            <a:r>
              <a:rPr lang="en-US" altLang="zh-CN" b="0" i="0" dirty="0" err="1">
                <a:effectLst/>
                <a:latin typeface="Segoe WPC"/>
              </a:rPr>
              <a:t>DbSoft</a:t>
            </a:r>
            <a:r>
              <a:rPr lang="en-US" altLang="zh-CN" b="0" i="0" dirty="0">
                <a:effectLst/>
                <a:latin typeface="Segoe WPC"/>
              </a:rPr>
              <a:t> </a:t>
            </a:r>
            <a:r>
              <a:rPr lang="zh-CN" altLang="en-US" b="0" i="0" dirty="0">
                <a:effectLst/>
                <a:latin typeface="Segoe WPC"/>
              </a:rPr>
              <a:t>结构，并可能与 </a:t>
            </a:r>
            <a:r>
              <a:rPr lang="en-US" altLang="zh-CN" b="0" i="0" dirty="0">
                <a:effectLst/>
                <a:latin typeface="Segoe WPC"/>
              </a:rPr>
              <a:t>Arb/Boost/Bhs </a:t>
            </a:r>
            <a:r>
              <a:rPr lang="zh-CN" altLang="en-US" b="0" i="0" dirty="0">
                <a:effectLst/>
                <a:latin typeface="Segoe WPC"/>
              </a:rPr>
              <a:t>等模块协同仲裁。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effectLst/>
                <a:latin typeface="Segoe WPC"/>
              </a:rPr>
              <a:t>NVRAM</a:t>
            </a:r>
            <a:r>
              <a:rPr lang="zh-CN" altLang="en-US" b="0" i="0" dirty="0">
                <a:effectLst/>
                <a:latin typeface="Segoe WPC"/>
              </a:rPr>
              <a:t>：读取</a:t>
            </a:r>
            <a:r>
              <a:rPr lang="en-US" altLang="zh-CN" b="0" i="0" dirty="0">
                <a:effectLst/>
                <a:latin typeface="Segoe WPC"/>
              </a:rPr>
              <a:t>/</a:t>
            </a:r>
            <a:r>
              <a:rPr lang="zh-CN" altLang="en-US" b="0" i="0" dirty="0">
                <a:effectLst/>
                <a:latin typeface="Segoe WPC"/>
              </a:rPr>
              <a:t>写回可能的配置或累计计数等。</a:t>
            </a:r>
          </a:p>
        </p:txBody>
      </p:sp>
    </p:spTree>
    <p:extLst>
      <p:ext uri="{BB962C8B-B14F-4D97-AF65-F5344CB8AC3E}">
        <p14:creationId xmlns:p14="http://schemas.microsoft.com/office/powerpoint/2010/main" val="328687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394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ITA">
      <a:dk1>
        <a:sysClr val="windowText" lastClr="000000"/>
      </a:dk1>
      <a:lt1>
        <a:sysClr val="window" lastClr="FFFFFF"/>
      </a:lt1>
      <a:dk2>
        <a:srgbClr val="000087"/>
      </a:dk2>
      <a:lt2>
        <a:srgbClr val="EEECE1"/>
      </a:lt2>
      <a:accent1>
        <a:srgbClr val="005CFF"/>
      </a:accent1>
      <a:accent2>
        <a:srgbClr val="1BBFC9"/>
      </a:accent2>
      <a:accent3>
        <a:srgbClr val="EB595D"/>
      </a:accent3>
      <a:accent4>
        <a:srgbClr val="F8AD26"/>
      </a:accent4>
      <a:accent5>
        <a:srgbClr val="92D050"/>
      </a:accent5>
      <a:accent6>
        <a:srgbClr val="80008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F31360C7-C131-4C4E-AA54-3752C0ADD586}" vid="{D489D65B-6A7F-4177-97A4-E69CFF54FCE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4ECDE3992A08C4AB27EAAF617A05967" ma:contentTypeVersion="18" ma:contentTypeDescription="Ein neues Dokument erstellen." ma:contentTypeScope="" ma:versionID="459a5706d02a515e233224f2ce2704c6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63e141cbbccbc390e52df3d3db5a86df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Verarbeitungsstatus" ma:internalName="PrimeClassificationStatus">
      <xsd:simpleType>
        <xsd:restriction base="dms:Text"/>
      </xsd:simpleType>
    </xsd:element>
    <xsd:element name="PrimeClassificationStatusDetails" ma:index="22" nillable="true" ma:displayName="Verarbeitungs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Verarbeitet" ma:internalName="PrimeLastClassified">
      <xsd:simpleType>
        <xsd:restriction base="dms:DateTime"/>
      </xsd:simpleType>
    </xsd:element>
    <xsd:element name="PrimeCorrectedByUser" ma:index="24" nillable="true" ma:displayName="Korrigiert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5088e1-af34-4927-a3f0-bdce59540293">
      <Terms xmlns="http://schemas.microsoft.com/office/infopath/2007/PartnerControls"/>
    </lcf76f155ced4ddcb4097134ff3c332f>
    <TaxCatchAll xmlns="f4ecdb93-bc7f-4438-8c77-236ab96c18a9" xsi:nil="true"/>
    <PrimeCorrectedByUser xmlns="f4ecdb93-bc7f-4438-8c77-236ab96c18a9" xsi:nil="true"/>
    <testStatus xmlns="455088e1-af34-4927-a3f0-bdce59540293" xsi:nil="true"/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Props1.xml><?xml version="1.0" encoding="utf-8"?>
<ds:datastoreItem xmlns:ds="http://schemas.openxmlformats.org/officeDocument/2006/customXml" ds:itemID="{D1C0FC78-E75C-4310-9EEB-2CE83C841188}"/>
</file>

<file path=customXml/itemProps2.xml><?xml version="1.0" encoding="utf-8"?>
<ds:datastoreItem xmlns:ds="http://schemas.openxmlformats.org/officeDocument/2006/customXml" ds:itemID="{96C6AF45-ADB9-4215-8735-067F9426B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DA08F4-6356-4913-A7C4-25EB807FA1F9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0e5b45e2-4a48-4b70-b50b-2f21187fd9d5"/>
    <ds:schemaRef ds:uri="3f2be852-9b84-4b80-a834-1d795ab6280c"/>
    <ds:schemaRef ds:uri="ad2d631b-d8bf-4921-b4fc-1c211e69d04d"/>
    <ds:schemaRef ds:uri="06c40a19-1123-4713-854e-0b5b43a709ae"/>
    <ds:schemaRef ds:uri="455088e1-af34-4927-a3f0-bdce59540293"/>
    <ds:schemaRef ds:uri="f4ecdb93-bc7f-4438-8c77-236ab96c18a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Plantilla_Proyectos</Template>
  <TotalTime>0</TotalTime>
  <Words>1282</Words>
  <Application>Microsoft Office PowerPoint</Application>
  <PresentationFormat>宽屏</PresentationFormat>
  <Paragraphs>177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Segoe WPC</vt:lpstr>
      <vt:lpstr>Arial</vt:lpstr>
      <vt:lpstr>Calibri</vt:lpstr>
      <vt:lpstr>Cambria Math</vt:lpstr>
      <vt:lpstr>Tema de Office</vt:lpstr>
      <vt:lpstr>PowerPoint 演示文稿</vt:lpstr>
      <vt:lpstr>Simulink Simulation Model</vt:lpstr>
      <vt:lpstr>Input Data + Control parameters</vt:lpstr>
      <vt:lpstr>PowerPoint 演示文稿</vt:lpstr>
      <vt:lpstr>PowerPoint 演示文稿</vt:lpstr>
      <vt:lpstr>Simplified Vehicle Dynamic model</vt:lpstr>
      <vt:lpstr>PowerPoint 演示文稿</vt:lpstr>
      <vt:lpstr>PowerPoint 演示文稿</vt:lpstr>
      <vt:lpstr>PowerPoint 演示文稿</vt:lpstr>
      <vt:lpstr>PowerPoint 演示文稿</vt:lpstr>
    </vt:vector>
  </TitlesOfParts>
  <Company>ITAINNOVA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Leticia Gracia</dc:creator>
  <cp:lastModifiedBy>Yang Zhen SGH CDAY223</cp:lastModifiedBy>
  <cp:revision>119</cp:revision>
  <dcterms:created xsi:type="dcterms:W3CDTF">2024-03-22T20:34:38Z</dcterms:created>
  <dcterms:modified xsi:type="dcterms:W3CDTF">2025-09-19T09:39:10Z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0x010100F4ECDE3992A08C4AB27EAAF617A05967</vt:lpwstr>
  </property>
  <property fmtid="{D5CDD505-2E9C-101B-9397-08002B2CF9AE}" pid="3" name="MSIP_Label_3989f05f-edc3-4af3-b0a2-5c6712921edb_Enabled">
    <vt:lpwstr>true</vt:lpwstr>
  </property>
  <property fmtid="{D5CDD505-2E9C-101B-9397-08002B2CF9AE}" pid="4" name="MSIP_Label_3989f05f-edc3-4af3-b0a2-5c6712921edb_SetDate">
    <vt:lpwstr>2025-05-16T16:15:22Z</vt:lpwstr>
  </property>
  <property fmtid="{D5CDD505-2E9C-101B-9397-08002B2CF9AE}" pid="5" name="MSIP_Label_3989f05f-edc3-4af3-b0a2-5c6712921edb_Method">
    <vt:lpwstr>Privileged</vt:lpwstr>
  </property>
  <property fmtid="{D5CDD505-2E9C-101B-9397-08002B2CF9AE}" pid="6" name="MSIP_Label_3989f05f-edc3-4af3-b0a2-5c6712921edb_Name">
    <vt:lpwstr>ZF Confidential Sub_2</vt:lpwstr>
  </property>
  <property fmtid="{D5CDD505-2E9C-101B-9397-08002B2CF9AE}" pid="7" name="MSIP_Label_3989f05f-edc3-4af3-b0a2-5c6712921edb_SiteId">
    <vt:lpwstr>eb70b763-b6d7-4486-8555-8831709a784e</vt:lpwstr>
  </property>
  <property fmtid="{D5CDD505-2E9C-101B-9397-08002B2CF9AE}" pid="8" name="MSIP_Label_3989f05f-edc3-4af3-b0a2-5c6712921edb_ActionId">
    <vt:lpwstr>335aabe6-4fb0-41cd-b4a4-96635f498643</vt:lpwstr>
  </property>
  <property fmtid="{D5CDD505-2E9C-101B-9397-08002B2CF9AE}" pid="9" name="MSIP_Label_3989f05f-edc3-4af3-b0a2-5c6712921edb_ContentBits">
    <vt:lpwstr>1</vt:lpwstr>
  </property>
  <property fmtid="{D5CDD505-2E9C-101B-9397-08002B2CF9AE}" pid="10" name="MSIP_Label_3989f05f-edc3-4af3-b0a2-5c6712921edb_Tag">
    <vt:lpwstr>10, 0, 1, 2</vt:lpwstr>
  </property>
  <property fmtid="{D5CDD505-2E9C-101B-9397-08002B2CF9AE}" pid="11" name="ClassificationContentMarkingHeaderLocations">
    <vt:lpwstr>Tema de Office:5</vt:lpwstr>
  </property>
  <property fmtid="{D5CDD505-2E9C-101B-9397-08002B2CF9AE}" pid="12" name="ClassificationContentMarkingHeaderText">
    <vt:lpwstr>ZF Confidential</vt:lpwstr>
  </property>
  <property fmtid="{D5CDD505-2E9C-101B-9397-08002B2CF9AE}" pid="13" name="MediaServiceImageTags">
    <vt:lpwstr/>
  </property>
</Properties>
</file>